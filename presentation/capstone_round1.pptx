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54"/>
    <p:restoredTop sz="94610"/>
  </p:normalViewPr>
  <p:slideViewPr>
    <p:cSldViewPr snapToGrid="0" snapToObjects="1">
      <p:cViewPr varScale="1">
        <p:scale>
          <a:sx n="215" d="100"/>
          <a:sy n="215" d="100"/>
        </p:scale>
        <p:origin x="117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61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a:effectLst/>
      </p:bgPr>
    </p:bg>
    <p:spTree>
      <p:nvGrpSpPr>
        <p:cNvPr id="1" name=""/>
        <p:cNvGrpSpPr/>
        <p:nvPr/>
      </p:nvGrpSpPr>
      <p:grpSpPr>
        <a:xfrm>
          <a:off x="0" y="0"/>
          <a:ext cx="0" cy="0"/>
          <a:chOff x="0" y="0"/>
          <a:chExt cx="0" cy="0"/>
        </a:xfrm>
      </p:grpSpPr>
      <p:sp>
        <p:nvSpPr>
          <p:cNvPr id="2" name="Text 0"/>
          <p:cNvSpPr txBox="1"/>
          <p:nvPr/>
        </p:nvSpPr>
        <p:spPr>
          <a:xfrm>
            <a:off x="640080" y="640080"/>
            <a:ext cx="7315200" cy="256032"/>
          </a:xfrm>
          <a:prstGeom prst="rect">
            <a:avLst/>
          </a:prstGeom>
          <a:noFill/>
          <a:ln/>
        </p:spPr>
        <p:txBody>
          <a:bodyPr wrap="square" rtlCol="0" anchor="ctr"/>
          <a:lstStyle/>
          <a:p>
            <a:pPr marL="0" indent="0">
              <a:buNone/>
            </a:pPr>
            <a:r>
              <a:rPr lang="en-US" sz="900" b="1" kern="0" spc="180" dirty="0">
                <a:solidFill>
                  <a:srgbClr val="C8A84B"/>
                </a:solidFill>
              </a:rPr>
              <a:t>CAPSTONE ROUND 1  ·  AI CONSULTING</a:t>
            </a:r>
            <a:endParaRPr lang="en-US" sz="900" dirty="0"/>
          </a:p>
        </p:txBody>
      </p:sp>
      <p:sp>
        <p:nvSpPr>
          <p:cNvPr id="3" name="Shape 1"/>
          <p:cNvSpPr/>
          <p:nvPr/>
        </p:nvSpPr>
        <p:spPr>
          <a:xfrm>
            <a:off x="640080" y="1024128"/>
            <a:ext cx="457200" cy="36576"/>
          </a:xfrm>
          <a:prstGeom prst="rect">
            <a:avLst/>
          </a:prstGeom>
          <a:solidFill>
            <a:srgbClr val="C8A84B"/>
          </a:solidFill>
          <a:ln w="12700">
            <a:solidFill>
              <a:srgbClr val="C8A84B"/>
            </a:solidFill>
            <a:prstDash val="solid"/>
          </a:ln>
        </p:spPr>
        <p:txBody>
          <a:bodyPr/>
          <a:lstStyle/>
          <a:p>
            <a:endParaRPr lang="en-US"/>
          </a:p>
        </p:txBody>
      </p:sp>
      <p:sp>
        <p:nvSpPr>
          <p:cNvPr id="4" name="Text 2"/>
          <p:cNvSpPr txBox="1"/>
          <p:nvPr/>
        </p:nvSpPr>
        <p:spPr>
          <a:xfrm>
            <a:off x="640080" y="1143000"/>
            <a:ext cx="6858000" cy="2194560"/>
          </a:xfrm>
          <a:prstGeom prst="rect">
            <a:avLst/>
          </a:prstGeom>
          <a:noFill/>
          <a:ln/>
        </p:spPr>
        <p:txBody>
          <a:bodyPr wrap="square" rtlCol="0" anchor="ctr"/>
          <a:lstStyle/>
          <a:p>
            <a:pPr marL="0" indent="0">
              <a:lnSpc>
                <a:spcPct val="120000"/>
              </a:lnSpc>
              <a:buNone/>
            </a:pPr>
            <a:r>
              <a:rPr lang="en-US" sz="3600" dirty="0">
                <a:solidFill>
                  <a:srgbClr val="FFFFFF"/>
                </a:solidFill>
                <a:latin typeface="Georgia" pitchFamily="34" charset="0"/>
                <a:ea typeface="Georgia" pitchFamily="34" charset="-122"/>
                <a:cs typeface="Georgia" pitchFamily="34" charset="-120"/>
              </a:rPr>
              <a:t>AI-Assisted Lease &amp;
</a:t>
            </a:r>
            <a:r>
              <a:rPr lang="en-US" sz="3600" i="1" dirty="0">
                <a:solidFill>
                  <a:srgbClr val="C8A84B"/>
                </a:solidFill>
                <a:latin typeface="Georgia" pitchFamily="34" charset="0"/>
                <a:ea typeface="Georgia" pitchFamily="34" charset="-122"/>
                <a:cs typeface="Georgia" pitchFamily="34" charset="-120"/>
              </a:rPr>
              <a:t>Due Diligence Review
</a:t>
            </a:r>
            <a:r>
              <a:rPr lang="en-US" sz="3600" dirty="0">
                <a:solidFill>
                  <a:srgbClr val="FFFFFF"/>
                </a:solidFill>
                <a:latin typeface="Georgia" pitchFamily="34" charset="0"/>
                <a:ea typeface="Georgia" pitchFamily="34" charset="-122"/>
                <a:cs typeface="Georgia" pitchFamily="34" charset="-120"/>
              </a:rPr>
              <a:t>for Property Developers</a:t>
            </a:r>
            <a:endParaRPr lang="en-US" sz="3600" dirty="0"/>
          </a:p>
        </p:txBody>
      </p:sp>
      <p:sp>
        <p:nvSpPr>
          <p:cNvPr id="5" name="Text 3"/>
          <p:cNvSpPr txBox="1"/>
          <p:nvPr/>
        </p:nvSpPr>
        <p:spPr>
          <a:xfrm>
            <a:off x="640080" y="3566160"/>
            <a:ext cx="1920240" cy="182880"/>
          </a:xfrm>
          <a:prstGeom prst="rect">
            <a:avLst/>
          </a:prstGeom>
          <a:noFill/>
          <a:ln/>
        </p:spPr>
        <p:txBody>
          <a:bodyPr wrap="square" rtlCol="0" anchor="ctr"/>
          <a:lstStyle/>
          <a:p>
            <a:pPr marL="0" indent="0">
              <a:buNone/>
            </a:pPr>
            <a:r>
              <a:rPr lang="en-US" sz="800" b="1" kern="0" spc="80" dirty="0">
                <a:solidFill>
                  <a:srgbClr val="8A9AB8"/>
                </a:solidFill>
              </a:rPr>
              <a:t>SECTOR</a:t>
            </a:r>
            <a:endParaRPr lang="en-US" sz="800" dirty="0"/>
          </a:p>
        </p:txBody>
      </p:sp>
      <p:sp>
        <p:nvSpPr>
          <p:cNvPr id="6" name="Text 4"/>
          <p:cNvSpPr txBox="1"/>
          <p:nvPr/>
        </p:nvSpPr>
        <p:spPr>
          <a:xfrm>
            <a:off x="640080" y="3767328"/>
            <a:ext cx="1920240" cy="201168"/>
          </a:xfrm>
          <a:prstGeom prst="rect">
            <a:avLst/>
          </a:prstGeom>
          <a:noFill/>
          <a:ln/>
        </p:spPr>
        <p:txBody>
          <a:bodyPr wrap="square" rtlCol="0" anchor="ctr"/>
          <a:lstStyle/>
          <a:p>
            <a:pPr marL="0" indent="0">
              <a:buNone/>
            </a:pPr>
            <a:r>
              <a:rPr lang="en-US" sz="1000" dirty="0">
                <a:solidFill>
                  <a:srgbClr val="E8ECF4"/>
                </a:solidFill>
              </a:rPr>
              <a:t>Commercial Real Estate</a:t>
            </a:r>
            <a:endParaRPr lang="en-US" sz="1000" dirty="0"/>
          </a:p>
        </p:txBody>
      </p:sp>
      <p:sp>
        <p:nvSpPr>
          <p:cNvPr id="7" name="Text 5"/>
          <p:cNvSpPr txBox="1"/>
          <p:nvPr/>
        </p:nvSpPr>
        <p:spPr>
          <a:xfrm>
            <a:off x="2651760" y="3566160"/>
            <a:ext cx="1920240" cy="182880"/>
          </a:xfrm>
          <a:prstGeom prst="rect">
            <a:avLst/>
          </a:prstGeom>
          <a:noFill/>
          <a:ln/>
        </p:spPr>
        <p:txBody>
          <a:bodyPr wrap="square" rtlCol="0" anchor="ctr"/>
          <a:lstStyle/>
          <a:p>
            <a:pPr marL="0" indent="0">
              <a:buNone/>
            </a:pPr>
            <a:r>
              <a:rPr lang="en-US" sz="800" b="1" kern="0" spc="80" dirty="0">
                <a:solidFill>
                  <a:srgbClr val="8A9AB8"/>
                </a:solidFill>
              </a:rPr>
              <a:t>COMPANY SIZE</a:t>
            </a:r>
            <a:endParaRPr lang="en-US" sz="800" dirty="0"/>
          </a:p>
        </p:txBody>
      </p:sp>
      <p:sp>
        <p:nvSpPr>
          <p:cNvPr id="8" name="Text 6"/>
          <p:cNvSpPr txBox="1"/>
          <p:nvPr/>
        </p:nvSpPr>
        <p:spPr>
          <a:xfrm>
            <a:off x="2651760" y="3767328"/>
            <a:ext cx="1920240" cy="201168"/>
          </a:xfrm>
          <a:prstGeom prst="rect">
            <a:avLst/>
          </a:prstGeom>
          <a:noFill/>
          <a:ln/>
        </p:spPr>
        <p:txBody>
          <a:bodyPr wrap="square" rtlCol="0" anchor="ctr"/>
          <a:lstStyle/>
          <a:p>
            <a:pPr marL="0" indent="0">
              <a:buNone/>
            </a:pPr>
            <a:r>
              <a:rPr lang="en-US" sz="1000" dirty="0">
                <a:solidFill>
                  <a:srgbClr val="E8ECF4"/>
                </a:solidFill>
              </a:rPr>
              <a:t>Mid-market · 200–1,000 staff</a:t>
            </a:r>
            <a:endParaRPr lang="en-US" sz="1000" dirty="0"/>
          </a:p>
        </p:txBody>
      </p:sp>
      <p:sp>
        <p:nvSpPr>
          <p:cNvPr id="9" name="Text 7"/>
          <p:cNvSpPr txBox="1"/>
          <p:nvPr/>
        </p:nvSpPr>
        <p:spPr>
          <a:xfrm>
            <a:off x="4663440" y="3566160"/>
            <a:ext cx="1920240" cy="182880"/>
          </a:xfrm>
          <a:prstGeom prst="rect">
            <a:avLst/>
          </a:prstGeom>
          <a:noFill/>
          <a:ln/>
        </p:spPr>
        <p:txBody>
          <a:bodyPr wrap="square" rtlCol="0" anchor="ctr"/>
          <a:lstStyle/>
          <a:p>
            <a:pPr marL="0" indent="0">
              <a:buNone/>
            </a:pPr>
            <a:r>
              <a:rPr lang="en-US" sz="800" b="1" kern="0" spc="80" dirty="0">
                <a:solidFill>
                  <a:srgbClr val="8A9AB8"/>
                </a:solidFill>
              </a:rPr>
              <a:t>STUDENT</a:t>
            </a:r>
            <a:endParaRPr lang="en-US" sz="800" dirty="0"/>
          </a:p>
        </p:txBody>
      </p:sp>
      <p:sp>
        <p:nvSpPr>
          <p:cNvPr id="10" name="Text 8"/>
          <p:cNvSpPr txBox="1"/>
          <p:nvPr/>
        </p:nvSpPr>
        <p:spPr>
          <a:xfrm>
            <a:off x="4663440" y="3767328"/>
            <a:ext cx="1920240" cy="201168"/>
          </a:xfrm>
          <a:prstGeom prst="rect">
            <a:avLst/>
          </a:prstGeom>
          <a:noFill/>
          <a:ln/>
        </p:spPr>
        <p:txBody>
          <a:bodyPr wrap="square" rtlCol="0" anchor="ctr"/>
          <a:lstStyle/>
          <a:p>
            <a:pPr marL="0" indent="0">
              <a:buNone/>
            </a:pPr>
            <a:r>
              <a:rPr lang="en-US" sz="1000" dirty="0">
                <a:solidFill>
                  <a:srgbClr val="E8ECF4"/>
                </a:solidFill>
              </a:rPr>
              <a:t>Ioanna Renta</a:t>
            </a:r>
            <a:endParaRPr lang="en-US" sz="1000" dirty="0"/>
          </a:p>
        </p:txBody>
      </p:sp>
      <p:sp>
        <p:nvSpPr>
          <p:cNvPr id="11" name="Text 9"/>
          <p:cNvSpPr txBox="1"/>
          <p:nvPr/>
        </p:nvSpPr>
        <p:spPr>
          <a:xfrm>
            <a:off x="6675120" y="3566160"/>
            <a:ext cx="1920240" cy="182880"/>
          </a:xfrm>
          <a:prstGeom prst="rect">
            <a:avLst/>
          </a:prstGeom>
          <a:noFill/>
          <a:ln/>
        </p:spPr>
        <p:txBody>
          <a:bodyPr wrap="square" rtlCol="0" anchor="ctr"/>
          <a:lstStyle/>
          <a:p>
            <a:pPr marL="0" indent="0">
              <a:buNone/>
            </a:pPr>
            <a:r>
              <a:rPr lang="en-US" sz="800" b="1" kern="0" spc="80" dirty="0">
                <a:solidFill>
                  <a:srgbClr val="8A9AB8"/>
                </a:solidFill>
              </a:rPr>
              <a:t>PROGRAM</a:t>
            </a:r>
            <a:endParaRPr lang="en-US" sz="800" dirty="0"/>
          </a:p>
        </p:txBody>
      </p:sp>
      <p:sp>
        <p:nvSpPr>
          <p:cNvPr id="12" name="Text 10"/>
          <p:cNvSpPr txBox="1"/>
          <p:nvPr/>
        </p:nvSpPr>
        <p:spPr>
          <a:xfrm>
            <a:off x="6675120" y="3767328"/>
            <a:ext cx="1920240" cy="201168"/>
          </a:xfrm>
          <a:prstGeom prst="rect">
            <a:avLst/>
          </a:prstGeom>
          <a:noFill/>
          <a:ln/>
        </p:spPr>
        <p:txBody>
          <a:bodyPr wrap="square" rtlCol="0" anchor="ctr"/>
          <a:lstStyle/>
          <a:p>
            <a:pPr marL="0" indent="0">
              <a:buNone/>
            </a:pPr>
            <a:r>
              <a:rPr lang="en-US" sz="1000" dirty="0">
                <a:solidFill>
                  <a:srgbClr val="E8ECF4"/>
                </a:solidFill>
              </a:rPr>
              <a:t>Ironhack AI Consulting</a:t>
            </a:r>
            <a:endParaRPr lang="en-US" sz="1000" dirty="0"/>
          </a:p>
        </p:txBody>
      </p:sp>
      <p:sp>
        <p:nvSpPr>
          <p:cNvPr id="13" name="Text 11"/>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01 · THE PROBLEM</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Chleo's company loses weeks, and </a:t>
            </a:r>
            <a:endParaRPr lang="en-US" sz="2000" dirty="0"/>
          </a:p>
          <a:p>
            <a:pPr marL="0" indent="0">
              <a:lnSpc>
                <a:spcPct val="115000"/>
              </a:lnSpc>
              <a:buNone/>
            </a:pPr>
            <a:r>
              <a:rPr lang="en-US" sz="2000" i="1" dirty="0">
                <a:solidFill>
                  <a:srgbClr val="3D4F6E"/>
                </a:solidFill>
                <a:latin typeface="Georgia" pitchFamily="34" charset="0"/>
                <a:ea typeface="Georgia" pitchFamily="34" charset="-122"/>
                <a:cs typeface="Georgia" pitchFamily="34" charset="-120"/>
              </a:rPr>
              <a:t>hundreds of thousands</a:t>
            </a:r>
            <a:r>
              <a:rPr lang="en-US" sz="2000" dirty="0">
                <a:solidFill>
                  <a:srgbClr val="0F1F3D"/>
                </a:solidFill>
                <a:latin typeface="Georgia" pitchFamily="34" charset="0"/>
                <a:ea typeface="Georgia" pitchFamily="34" charset="-122"/>
                <a:cs typeface="Georgia" pitchFamily="34" charset="-120"/>
              </a:rPr>
              <a:t> to manual lease review</a:t>
            </a:r>
            <a:endParaRPr lang="en-US" sz="2000" dirty="0"/>
          </a:p>
        </p:txBody>
      </p:sp>
      <p:sp>
        <p:nvSpPr>
          <p:cNvPr id="4" name="Shape 2"/>
          <p:cNvSpPr/>
          <p:nvPr/>
        </p:nvSpPr>
        <p:spPr>
          <a:xfrm>
            <a:off x="548640" y="1463040"/>
            <a:ext cx="2651760" cy="960120"/>
          </a:xfrm>
          <a:prstGeom prst="rect">
            <a:avLst/>
          </a:prstGeom>
          <a:solidFill>
            <a:srgbClr val="E8ECF4"/>
          </a:solidFill>
          <a:ln w="12700">
            <a:solidFill>
              <a:srgbClr val="E8ECF4"/>
            </a:solidFill>
            <a:prstDash val="solid"/>
          </a:ln>
        </p:spPr>
        <p:txBody>
          <a:bodyPr/>
          <a:lstStyle/>
          <a:p>
            <a:endParaRPr lang="en-US"/>
          </a:p>
        </p:txBody>
      </p:sp>
      <p:sp>
        <p:nvSpPr>
          <p:cNvPr id="5" name="Text 3"/>
          <p:cNvSpPr txBox="1"/>
          <p:nvPr/>
        </p:nvSpPr>
        <p:spPr>
          <a:xfrm>
            <a:off x="713232" y="1554480"/>
            <a:ext cx="2377440" cy="475488"/>
          </a:xfrm>
          <a:prstGeom prst="rect">
            <a:avLst/>
          </a:prstGeom>
          <a:noFill/>
          <a:ln/>
        </p:spPr>
        <p:txBody>
          <a:bodyPr wrap="square" rtlCol="0" anchor="ctr"/>
          <a:lstStyle/>
          <a:p>
            <a:pPr marL="0" indent="0">
              <a:buNone/>
            </a:pPr>
            <a:r>
              <a:rPr lang="en-US" sz="3000" dirty="0">
                <a:solidFill>
                  <a:srgbClr val="C0392B"/>
                </a:solidFill>
                <a:latin typeface="Georgia" pitchFamily="34" charset="0"/>
                <a:ea typeface="Georgia" pitchFamily="34" charset="-122"/>
                <a:cs typeface="Georgia" pitchFamily="34" charset="-120"/>
              </a:rPr>
              <a:t>4–8h</a:t>
            </a:r>
            <a:endParaRPr lang="en-US" sz="3000" dirty="0"/>
          </a:p>
        </p:txBody>
      </p:sp>
      <p:sp>
        <p:nvSpPr>
          <p:cNvPr id="6" name="Text 4"/>
          <p:cNvSpPr txBox="1"/>
          <p:nvPr/>
        </p:nvSpPr>
        <p:spPr>
          <a:xfrm>
            <a:off x="713232" y="2011680"/>
            <a:ext cx="2487168" cy="347472"/>
          </a:xfrm>
          <a:prstGeom prst="rect">
            <a:avLst/>
          </a:prstGeom>
          <a:noFill/>
          <a:ln/>
        </p:spPr>
        <p:txBody>
          <a:bodyPr wrap="square" rtlCol="0" anchor="ctr"/>
          <a:lstStyle/>
          <a:p>
            <a:pPr marL="0" indent="0">
              <a:buNone/>
            </a:pPr>
            <a:r>
              <a:rPr lang="en-US" sz="950" dirty="0">
                <a:solidFill>
                  <a:srgbClr val="3D4F6E"/>
                </a:solidFill>
              </a:rPr>
              <a:t>to abstract a single commercial lease manually</a:t>
            </a:r>
            <a:endParaRPr lang="en-US" sz="950" dirty="0"/>
          </a:p>
        </p:txBody>
      </p:sp>
      <p:sp>
        <p:nvSpPr>
          <p:cNvPr id="7" name="Shape 5"/>
          <p:cNvSpPr/>
          <p:nvPr/>
        </p:nvSpPr>
        <p:spPr>
          <a:xfrm>
            <a:off x="3383280" y="1463040"/>
            <a:ext cx="2651760" cy="960120"/>
          </a:xfrm>
          <a:prstGeom prst="rect">
            <a:avLst/>
          </a:prstGeom>
          <a:solidFill>
            <a:srgbClr val="E8ECF4"/>
          </a:solidFill>
          <a:ln w="12700">
            <a:solidFill>
              <a:srgbClr val="E8ECF4"/>
            </a:solidFill>
            <a:prstDash val="solid"/>
          </a:ln>
        </p:spPr>
        <p:txBody>
          <a:bodyPr/>
          <a:lstStyle/>
          <a:p>
            <a:endParaRPr lang="en-US"/>
          </a:p>
        </p:txBody>
      </p:sp>
      <p:sp>
        <p:nvSpPr>
          <p:cNvPr id="8" name="Text 6"/>
          <p:cNvSpPr txBox="1"/>
          <p:nvPr/>
        </p:nvSpPr>
        <p:spPr>
          <a:xfrm>
            <a:off x="3547872" y="1554480"/>
            <a:ext cx="2377440" cy="475488"/>
          </a:xfrm>
          <a:prstGeom prst="rect">
            <a:avLst/>
          </a:prstGeom>
          <a:noFill/>
          <a:ln/>
        </p:spPr>
        <p:txBody>
          <a:bodyPr wrap="square" rtlCol="0" anchor="ctr"/>
          <a:lstStyle/>
          <a:p>
            <a:pPr marL="0" indent="0">
              <a:buNone/>
            </a:pPr>
            <a:r>
              <a:rPr lang="en-US" sz="3000" dirty="0">
                <a:solidFill>
                  <a:srgbClr val="C0392B"/>
                </a:solidFill>
                <a:latin typeface="Georgia" pitchFamily="34" charset="0"/>
                <a:ea typeface="Georgia" pitchFamily="34" charset="-122"/>
                <a:cs typeface="Georgia" pitchFamily="34" charset="-120"/>
              </a:rPr>
              <a:t>13 days</a:t>
            </a:r>
            <a:endParaRPr lang="en-US" sz="3000" dirty="0"/>
          </a:p>
        </p:txBody>
      </p:sp>
      <p:sp>
        <p:nvSpPr>
          <p:cNvPr id="9" name="Text 7"/>
          <p:cNvSpPr txBox="1"/>
          <p:nvPr/>
        </p:nvSpPr>
        <p:spPr>
          <a:xfrm>
            <a:off x="3547872" y="2011680"/>
            <a:ext cx="2377440" cy="347472"/>
          </a:xfrm>
          <a:prstGeom prst="rect">
            <a:avLst/>
          </a:prstGeom>
          <a:noFill/>
          <a:ln/>
        </p:spPr>
        <p:txBody>
          <a:bodyPr wrap="square" rtlCol="0" anchor="ctr"/>
          <a:lstStyle/>
          <a:p>
            <a:pPr marL="0" indent="0">
              <a:lnSpc>
                <a:spcPct val="130000"/>
              </a:lnSpc>
              <a:buNone/>
            </a:pPr>
            <a:r>
              <a:rPr lang="en-US" sz="950" dirty="0">
                <a:solidFill>
                  <a:srgbClr val="3D4F6E"/>
                </a:solidFill>
              </a:rPr>
              <a:t>total due diligence cycle per acquisition</a:t>
            </a:r>
            <a:endParaRPr lang="en-US" sz="950" dirty="0"/>
          </a:p>
        </p:txBody>
      </p:sp>
      <p:sp>
        <p:nvSpPr>
          <p:cNvPr id="10" name="Shape 8"/>
          <p:cNvSpPr/>
          <p:nvPr/>
        </p:nvSpPr>
        <p:spPr>
          <a:xfrm>
            <a:off x="6217920" y="1463040"/>
            <a:ext cx="2651760" cy="960120"/>
          </a:xfrm>
          <a:prstGeom prst="rect">
            <a:avLst/>
          </a:prstGeom>
          <a:solidFill>
            <a:srgbClr val="E8ECF4"/>
          </a:solidFill>
          <a:ln w="12700">
            <a:solidFill>
              <a:srgbClr val="E8ECF4"/>
            </a:solidFill>
            <a:prstDash val="solid"/>
          </a:ln>
        </p:spPr>
        <p:txBody>
          <a:bodyPr/>
          <a:lstStyle/>
          <a:p>
            <a:endParaRPr lang="en-US"/>
          </a:p>
        </p:txBody>
      </p:sp>
      <p:sp>
        <p:nvSpPr>
          <p:cNvPr id="11" name="Text 9"/>
          <p:cNvSpPr txBox="1"/>
          <p:nvPr/>
        </p:nvSpPr>
        <p:spPr>
          <a:xfrm>
            <a:off x="6382512" y="1554480"/>
            <a:ext cx="2377440" cy="475488"/>
          </a:xfrm>
          <a:prstGeom prst="rect">
            <a:avLst/>
          </a:prstGeom>
          <a:noFill/>
          <a:ln/>
        </p:spPr>
        <p:txBody>
          <a:bodyPr wrap="square" rtlCol="0" anchor="ctr"/>
          <a:lstStyle/>
          <a:p>
            <a:pPr marL="0" indent="0">
              <a:buNone/>
            </a:pPr>
            <a:r>
              <a:rPr lang="en-US" sz="3000" dirty="0">
                <a:solidFill>
                  <a:srgbClr val="C0392B"/>
                </a:solidFill>
                <a:latin typeface="Georgia" pitchFamily="34" charset="0"/>
                <a:ea typeface="Georgia" pitchFamily="34" charset="-122"/>
                <a:cs typeface="Georgia" pitchFamily="34" charset="-120"/>
              </a:rPr>
              <a:t>€192k</a:t>
            </a:r>
            <a:endParaRPr lang="en-US" sz="3000" dirty="0"/>
          </a:p>
        </p:txBody>
      </p:sp>
      <p:sp>
        <p:nvSpPr>
          <p:cNvPr id="12" name="Text 10"/>
          <p:cNvSpPr txBox="1"/>
          <p:nvPr/>
        </p:nvSpPr>
        <p:spPr>
          <a:xfrm>
            <a:off x="6382512" y="2011680"/>
            <a:ext cx="2377440" cy="347472"/>
          </a:xfrm>
          <a:prstGeom prst="rect">
            <a:avLst/>
          </a:prstGeom>
          <a:noFill/>
          <a:ln/>
        </p:spPr>
        <p:txBody>
          <a:bodyPr wrap="square" rtlCol="0" anchor="ctr"/>
          <a:lstStyle/>
          <a:p>
            <a:pPr marL="0" indent="0">
              <a:lnSpc>
                <a:spcPct val="130000"/>
              </a:lnSpc>
              <a:buNone/>
            </a:pPr>
            <a:r>
              <a:rPr lang="en-US" sz="950" dirty="0">
                <a:solidFill>
                  <a:srgbClr val="3D4F6E"/>
                </a:solidFill>
              </a:rPr>
              <a:t>annual abstraction cost at 12 deals/year</a:t>
            </a:r>
            <a:endParaRPr lang="en-US" sz="950" dirty="0"/>
          </a:p>
        </p:txBody>
      </p:sp>
      <p:sp>
        <p:nvSpPr>
          <p:cNvPr id="13" name="Text 11"/>
          <p:cNvSpPr txBox="1"/>
          <p:nvPr/>
        </p:nvSpPr>
        <p:spPr>
          <a:xfrm>
            <a:off x="548640" y="2606040"/>
            <a:ext cx="7863840" cy="502920"/>
          </a:xfrm>
          <a:prstGeom prst="rect">
            <a:avLst/>
          </a:prstGeom>
          <a:noFill/>
          <a:ln/>
        </p:spPr>
        <p:txBody>
          <a:bodyPr wrap="square" rtlCol="0" anchor="ctr"/>
          <a:lstStyle/>
          <a:p>
            <a:pPr marL="0" indent="0">
              <a:buNone/>
            </a:pPr>
            <a:r>
              <a:rPr lang="en-US" sz="1100" dirty="0">
                <a:solidFill>
                  <a:srgbClr val="3D4F6E"/>
                </a:solidFill>
              </a:rPr>
              <a:t>Chleo's team reviews 10–30 commercial leases per acquisition. Each lease is read manually — key dates extracted, unusual clauses noted, rent schedules transcribed. Two past deals had clause errors with material financial consequences. The legal team is stretched; deal cycles are slow.</a:t>
            </a:r>
            <a:endParaRPr lang="en-US" sz="1100" dirty="0"/>
          </a:p>
        </p:txBody>
      </p:sp>
      <p:sp>
        <p:nvSpPr>
          <p:cNvPr id="14" name="Text 12"/>
          <p:cNvSpPr txBox="1"/>
          <p:nvPr/>
        </p:nvSpPr>
        <p:spPr>
          <a:xfrm>
            <a:off x="548640" y="3182112"/>
            <a:ext cx="7863840" cy="502920"/>
          </a:xfrm>
          <a:prstGeom prst="rect">
            <a:avLst/>
          </a:prstGeom>
          <a:noFill/>
          <a:ln/>
        </p:spPr>
        <p:txBody>
          <a:bodyPr wrap="square" rtlCol="0" anchor="ctr"/>
          <a:lstStyle/>
          <a:p>
            <a:pPr marL="0" indent="0">
              <a:buNone/>
            </a:pPr>
            <a:r>
              <a:rPr lang="en-US" sz="1100" dirty="0">
                <a:solidFill>
                  <a:srgbClr val="3D4F6E"/>
                </a:solidFill>
              </a:rPr>
              <a:t>Chleo's fear: "AI is not transparent — how do I know it isn't making things up?" That fear is shared by 44% of real estate investment committees. It is the right question, and it has a direct answer.</a:t>
            </a:r>
            <a:endParaRPr lang="en-US" sz="1100" dirty="0"/>
          </a:p>
        </p:txBody>
      </p:sp>
      <p:sp>
        <p:nvSpPr>
          <p:cNvPr id="15" name="Text 13"/>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02 · MARKET CONTEXT</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The sector is moving fast.
</a:t>
            </a:r>
            <a:r>
              <a:rPr lang="en-US" sz="2000" i="1" dirty="0">
                <a:solidFill>
                  <a:srgbClr val="3D4F6E"/>
                </a:solidFill>
                <a:latin typeface="Georgia" pitchFamily="34" charset="0"/>
                <a:ea typeface="Georgia" pitchFamily="34" charset="-122"/>
                <a:cs typeface="Georgia" pitchFamily="34" charset="-120"/>
              </a:rPr>
              <a:t>The window for early movers is closing.</a:t>
            </a:r>
            <a:endParaRPr lang="en-US" sz="2000" dirty="0"/>
          </a:p>
        </p:txBody>
      </p:sp>
      <p:sp>
        <p:nvSpPr>
          <p:cNvPr id="4" name="Shape 2"/>
          <p:cNvSpPr/>
          <p:nvPr/>
        </p:nvSpPr>
        <p:spPr>
          <a:xfrm>
            <a:off x="548640" y="1481328"/>
            <a:ext cx="3931920" cy="960120"/>
          </a:xfrm>
          <a:prstGeom prst="rect">
            <a:avLst/>
          </a:prstGeom>
          <a:solidFill>
            <a:srgbClr val="E8ECF4"/>
          </a:solidFill>
          <a:ln w="12700">
            <a:solidFill>
              <a:srgbClr val="E8ECF4"/>
            </a:solidFill>
            <a:prstDash val="solid"/>
          </a:ln>
        </p:spPr>
        <p:txBody>
          <a:bodyPr/>
          <a:lstStyle/>
          <a:p>
            <a:endParaRPr lang="en-US"/>
          </a:p>
        </p:txBody>
      </p:sp>
      <p:sp>
        <p:nvSpPr>
          <p:cNvPr id="5" name="Text 3"/>
          <p:cNvSpPr txBox="1"/>
          <p:nvPr/>
        </p:nvSpPr>
        <p:spPr>
          <a:xfrm>
            <a:off x="713232" y="1572768"/>
            <a:ext cx="3657600" cy="475488"/>
          </a:xfrm>
          <a:prstGeom prst="rect">
            <a:avLst/>
          </a:prstGeom>
          <a:noFill/>
          <a:ln/>
        </p:spPr>
        <p:txBody>
          <a:bodyPr wrap="square" rtlCol="0" anchor="ctr"/>
          <a:lstStyle/>
          <a:p>
            <a:pPr marL="0" indent="0">
              <a:buNone/>
            </a:pPr>
            <a:r>
              <a:rPr lang="en-US" sz="3000" dirty="0">
                <a:solidFill>
                  <a:srgbClr val="C8A84B"/>
                </a:solidFill>
                <a:latin typeface="Georgia" pitchFamily="34" charset="0"/>
                <a:ea typeface="Georgia" pitchFamily="34" charset="-122"/>
                <a:cs typeface="Georgia" pitchFamily="34" charset="-120"/>
              </a:rPr>
              <a:t>88%</a:t>
            </a:r>
            <a:endParaRPr lang="en-US" sz="3000" dirty="0"/>
          </a:p>
        </p:txBody>
      </p:sp>
      <p:sp>
        <p:nvSpPr>
          <p:cNvPr id="6" name="Text 4"/>
          <p:cNvSpPr txBox="1"/>
          <p:nvPr/>
        </p:nvSpPr>
        <p:spPr>
          <a:xfrm>
            <a:off x="713232" y="2029968"/>
            <a:ext cx="3657600" cy="347472"/>
          </a:xfrm>
          <a:prstGeom prst="rect">
            <a:avLst/>
          </a:prstGeom>
          <a:noFill/>
          <a:ln/>
        </p:spPr>
        <p:txBody>
          <a:bodyPr wrap="square" rtlCol="0" anchor="ctr"/>
          <a:lstStyle/>
          <a:p>
            <a:pPr marL="0" indent="0">
              <a:lnSpc>
                <a:spcPct val="130000"/>
              </a:lnSpc>
              <a:buNone/>
            </a:pPr>
            <a:r>
              <a:rPr lang="en-US" sz="950" dirty="0">
                <a:solidFill>
                  <a:srgbClr val="3D4F6E"/>
                </a:solidFill>
              </a:rPr>
              <a:t>of real estate firms piloting AI in 2025 (up from 5% in 2023)</a:t>
            </a:r>
            <a:endParaRPr lang="en-US" sz="950" dirty="0"/>
          </a:p>
        </p:txBody>
      </p:sp>
      <p:sp>
        <p:nvSpPr>
          <p:cNvPr id="7" name="Shape 5"/>
          <p:cNvSpPr/>
          <p:nvPr/>
        </p:nvSpPr>
        <p:spPr>
          <a:xfrm>
            <a:off x="4754880" y="1481328"/>
            <a:ext cx="3931920" cy="960120"/>
          </a:xfrm>
          <a:prstGeom prst="rect">
            <a:avLst/>
          </a:prstGeom>
          <a:solidFill>
            <a:srgbClr val="E8ECF4"/>
          </a:solidFill>
          <a:ln w="12700">
            <a:solidFill>
              <a:srgbClr val="E8ECF4"/>
            </a:solidFill>
            <a:prstDash val="solid"/>
          </a:ln>
        </p:spPr>
        <p:txBody>
          <a:bodyPr/>
          <a:lstStyle/>
          <a:p>
            <a:endParaRPr lang="en-US"/>
          </a:p>
        </p:txBody>
      </p:sp>
      <p:sp>
        <p:nvSpPr>
          <p:cNvPr id="8" name="Text 6"/>
          <p:cNvSpPr txBox="1"/>
          <p:nvPr/>
        </p:nvSpPr>
        <p:spPr>
          <a:xfrm>
            <a:off x="4919472" y="1572768"/>
            <a:ext cx="3657600" cy="475488"/>
          </a:xfrm>
          <a:prstGeom prst="rect">
            <a:avLst/>
          </a:prstGeom>
          <a:noFill/>
          <a:ln/>
        </p:spPr>
        <p:txBody>
          <a:bodyPr wrap="square" rtlCol="0" anchor="ctr"/>
          <a:lstStyle/>
          <a:p>
            <a:pPr marL="0" indent="0">
              <a:buNone/>
            </a:pPr>
            <a:r>
              <a:rPr lang="en-US" sz="3000" dirty="0">
                <a:solidFill>
                  <a:srgbClr val="C0392B"/>
                </a:solidFill>
                <a:latin typeface="Georgia" pitchFamily="34" charset="0"/>
                <a:ea typeface="Georgia" pitchFamily="34" charset="-122"/>
                <a:cs typeface="Georgia" pitchFamily="34" charset="-120"/>
              </a:rPr>
              <a:t>8%</a:t>
            </a:r>
            <a:endParaRPr lang="en-US" sz="3000" dirty="0"/>
          </a:p>
        </p:txBody>
      </p:sp>
      <p:sp>
        <p:nvSpPr>
          <p:cNvPr id="9" name="Text 7"/>
          <p:cNvSpPr txBox="1"/>
          <p:nvPr/>
        </p:nvSpPr>
        <p:spPr>
          <a:xfrm>
            <a:off x="4919472" y="2029968"/>
            <a:ext cx="3657600" cy="347472"/>
          </a:xfrm>
          <a:prstGeom prst="rect">
            <a:avLst/>
          </a:prstGeom>
          <a:noFill/>
          <a:ln/>
        </p:spPr>
        <p:txBody>
          <a:bodyPr wrap="square" rtlCol="0" anchor="ctr"/>
          <a:lstStyle/>
          <a:p>
            <a:pPr marL="0" indent="0">
              <a:lnSpc>
                <a:spcPct val="130000"/>
              </a:lnSpc>
              <a:buNone/>
            </a:pPr>
            <a:r>
              <a:rPr lang="en-US" sz="950" dirty="0">
                <a:solidFill>
                  <a:srgbClr val="3D4F6E"/>
                </a:solidFill>
              </a:rPr>
              <a:t>have fully automated any process — most still in pilot</a:t>
            </a:r>
            <a:endParaRPr lang="en-US" sz="950" dirty="0"/>
          </a:p>
        </p:txBody>
      </p:sp>
      <p:sp>
        <p:nvSpPr>
          <p:cNvPr id="10" name="Shape 8"/>
          <p:cNvSpPr/>
          <p:nvPr/>
        </p:nvSpPr>
        <p:spPr>
          <a:xfrm>
            <a:off x="548640" y="2606040"/>
            <a:ext cx="3931920" cy="960120"/>
          </a:xfrm>
          <a:prstGeom prst="rect">
            <a:avLst/>
          </a:prstGeom>
          <a:solidFill>
            <a:srgbClr val="E8ECF4"/>
          </a:solidFill>
          <a:ln w="12700">
            <a:solidFill>
              <a:srgbClr val="E8ECF4"/>
            </a:solidFill>
            <a:prstDash val="solid"/>
          </a:ln>
        </p:spPr>
        <p:txBody>
          <a:bodyPr/>
          <a:lstStyle/>
          <a:p>
            <a:endParaRPr lang="en-US"/>
          </a:p>
        </p:txBody>
      </p:sp>
      <p:sp>
        <p:nvSpPr>
          <p:cNvPr id="11" name="Text 9"/>
          <p:cNvSpPr txBox="1"/>
          <p:nvPr/>
        </p:nvSpPr>
        <p:spPr>
          <a:xfrm>
            <a:off x="713232" y="2697480"/>
            <a:ext cx="3657600" cy="475488"/>
          </a:xfrm>
          <a:prstGeom prst="rect">
            <a:avLst/>
          </a:prstGeom>
          <a:noFill/>
          <a:ln/>
        </p:spPr>
        <p:txBody>
          <a:bodyPr wrap="square" rtlCol="0" anchor="ctr"/>
          <a:lstStyle/>
          <a:p>
            <a:pPr marL="0" indent="0">
              <a:buNone/>
            </a:pPr>
            <a:r>
              <a:rPr lang="en-US" sz="3000" dirty="0">
                <a:solidFill>
                  <a:srgbClr val="1A6B3C"/>
                </a:solidFill>
                <a:latin typeface="Georgia" pitchFamily="34" charset="0"/>
                <a:ea typeface="Georgia" pitchFamily="34" charset="-122"/>
                <a:cs typeface="Georgia" pitchFamily="34" charset="-120"/>
              </a:rPr>
              <a:t>85%</a:t>
            </a:r>
            <a:endParaRPr lang="en-US" sz="3000" dirty="0"/>
          </a:p>
        </p:txBody>
      </p:sp>
      <p:sp>
        <p:nvSpPr>
          <p:cNvPr id="12" name="Text 10"/>
          <p:cNvSpPr txBox="1"/>
          <p:nvPr/>
        </p:nvSpPr>
        <p:spPr>
          <a:xfrm>
            <a:off x="713232" y="3154680"/>
            <a:ext cx="3657600" cy="347472"/>
          </a:xfrm>
          <a:prstGeom prst="rect">
            <a:avLst/>
          </a:prstGeom>
          <a:noFill/>
          <a:ln/>
        </p:spPr>
        <p:txBody>
          <a:bodyPr wrap="square" rtlCol="0" anchor="ctr"/>
          <a:lstStyle/>
          <a:p>
            <a:pPr marL="0" indent="0">
              <a:lnSpc>
                <a:spcPct val="130000"/>
              </a:lnSpc>
              <a:buNone/>
            </a:pPr>
            <a:r>
              <a:rPr lang="en-US" sz="950" dirty="0">
                <a:solidFill>
                  <a:srgbClr val="3D4F6E"/>
                </a:solidFill>
              </a:rPr>
              <a:t>reduction in lease review time in real deployments</a:t>
            </a:r>
            <a:endParaRPr lang="en-US" sz="950" dirty="0"/>
          </a:p>
        </p:txBody>
      </p:sp>
      <p:sp>
        <p:nvSpPr>
          <p:cNvPr id="13" name="Shape 11"/>
          <p:cNvSpPr/>
          <p:nvPr/>
        </p:nvSpPr>
        <p:spPr>
          <a:xfrm>
            <a:off x="4754880" y="2606040"/>
            <a:ext cx="3931920" cy="960120"/>
          </a:xfrm>
          <a:prstGeom prst="rect">
            <a:avLst/>
          </a:prstGeom>
          <a:solidFill>
            <a:srgbClr val="E8ECF4"/>
          </a:solidFill>
          <a:ln w="12700">
            <a:solidFill>
              <a:srgbClr val="E8ECF4"/>
            </a:solidFill>
            <a:prstDash val="solid"/>
          </a:ln>
        </p:spPr>
        <p:txBody>
          <a:bodyPr/>
          <a:lstStyle/>
          <a:p>
            <a:endParaRPr lang="en-US"/>
          </a:p>
        </p:txBody>
      </p:sp>
      <p:sp>
        <p:nvSpPr>
          <p:cNvPr id="14" name="Text 12"/>
          <p:cNvSpPr txBox="1"/>
          <p:nvPr/>
        </p:nvSpPr>
        <p:spPr>
          <a:xfrm>
            <a:off x="4919472" y="2697480"/>
            <a:ext cx="3657600" cy="475488"/>
          </a:xfrm>
          <a:prstGeom prst="rect">
            <a:avLst/>
          </a:prstGeom>
          <a:noFill/>
          <a:ln/>
        </p:spPr>
        <p:txBody>
          <a:bodyPr wrap="square" rtlCol="0" anchor="ctr"/>
          <a:lstStyle/>
          <a:p>
            <a:pPr marL="0" indent="0">
              <a:buNone/>
            </a:pPr>
            <a:r>
              <a:rPr lang="en-US" sz="3000" dirty="0">
                <a:solidFill>
                  <a:srgbClr val="1A6B3C"/>
                </a:solidFill>
                <a:latin typeface="Georgia" pitchFamily="34" charset="0"/>
                <a:ea typeface="Georgia" pitchFamily="34" charset="-122"/>
                <a:cs typeface="Georgia" pitchFamily="34" charset="-120"/>
              </a:rPr>
              <a:t>95%</a:t>
            </a:r>
            <a:endParaRPr lang="en-US" sz="3000" dirty="0"/>
          </a:p>
        </p:txBody>
      </p:sp>
      <p:sp>
        <p:nvSpPr>
          <p:cNvPr id="15" name="Text 13"/>
          <p:cNvSpPr txBox="1"/>
          <p:nvPr/>
        </p:nvSpPr>
        <p:spPr>
          <a:xfrm>
            <a:off x="4919472" y="3154680"/>
            <a:ext cx="3657600" cy="347472"/>
          </a:xfrm>
          <a:prstGeom prst="rect">
            <a:avLst/>
          </a:prstGeom>
          <a:noFill/>
          <a:ln/>
        </p:spPr>
        <p:txBody>
          <a:bodyPr wrap="square" rtlCol="0" anchor="ctr"/>
          <a:lstStyle/>
          <a:p>
            <a:pPr marL="0" indent="0">
              <a:lnSpc>
                <a:spcPct val="130000"/>
              </a:lnSpc>
              <a:buNone/>
            </a:pPr>
            <a:r>
              <a:rPr lang="en-US" sz="950" dirty="0">
                <a:solidFill>
                  <a:srgbClr val="3D4F6E"/>
                </a:solidFill>
              </a:rPr>
              <a:t>accuracy on standard clause extraction vs 91% manual</a:t>
            </a:r>
            <a:endParaRPr lang="en-US" sz="950" dirty="0"/>
          </a:p>
        </p:txBody>
      </p:sp>
      <p:sp>
        <p:nvSpPr>
          <p:cNvPr id="16" name="Text 14"/>
          <p:cNvSpPr txBox="1"/>
          <p:nvPr/>
        </p:nvSpPr>
        <p:spPr>
          <a:xfrm>
            <a:off x="548640" y="4553712"/>
            <a:ext cx="7863840" cy="201168"/>
          </a:xfrm>
          <a:prstGeom prst="rect">
            <a:avLst/>
          </a:prstGeom>
          <a:noFill/>
          <a:ln/>
        </p:spPr>
        <p:txBody>
          <a:bodyPr wrap="square" rtlCol="0" anchor="ctr"/>
          <a:lstStyle/>
          <a:p>
            <a:pPr marL="0" indent="0">
              <a:lnSpc>
                <a:spcPct val="140000"/>
              </a:lnSpc>
              <a:buNone/>
            </a:pPr>
            <a:r>
              <a:rPr lang="en-US" sz="850" dirty="0">
                <a:solidFill>
                  <a:srgbClr val="8A9AB8"/>
                </a:solidFill>
              </a:rPr>
              <a:t>Sources: JLL Global RE Tech Survey 2025 · Buildium 2026 · Kolena 2025 · Oxmaint 2026</a:t>
            </a:r>
            <a:endParaRPr lang="en-US" sz="850" dirty="0"/>
          </a:p>
        </p:txBody>
      </p:sp>
      <p:sp>
        <p:nvSpPr>
          <p:cNvPr id="17" name="Text 15"/>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03 · USE CASES</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Three opportunities —
</a:t>
            </a:r>
            <a:r>
              <a:rPr lang="en-US" sz="2000" i="1" dirty="0">
                <a:solidFill>
                  <a:srgbClr val="3D4F6E"/>
                </a:solidFill>
                <a:latin typeface="Georgia" pitchFamily="34" charset="0"/>
                <a:ea typeface="Georgia" pitchFamily="34" charset="-122"/>
                <a:cs typeface="Georgia" pitchFamily="34" charset="-120"/>
              </a:rPr>
              <a:t>one to start with.</a:t>
            </a:r>
            <a:endParaRPr lang="en-US" sz="2000" dirty="0"/>
          </a:p>
        </p:txBody>
      </p:sp>
      <p:sp>
        <p:nvSpPr>
          <p:cNvPr id="4" name="Shape 2"/>
          <p:cNvSpPr/>
          <p:nvPr/>
        </p:nvSpPr>
        <p:spPr>
          <a:xfrm>
            <a:off x="548640" y="1444752"/>
            <a:ext cx="2651760" cy="1920240"/>
          </a:xfrm>
          <a:prstGeom prst="rect">
            <a:avLst/>
          </a:prstGeom>
          <a:solidFill>
            <a:srgbClr val="E8ECF4"/>
          </a:solidFill>
          <a:ln w="12700">
            <a:solidFill>
              <a:srgbClr val="E8ECF4"/>
            </a:solidFill>
            <a:prstDash val="solid"/>
          </a:ln>
        </p:spPr>
        <p:txBody>
          <a:bodyPr/>
          <a:lstStyle/>
          <a:p>
            <a:endParaRPr lang="en-US"/>
          </a:p>
        </p:txBody>
      </p:sp>
      <p:sp>
        <p:nvSpPr>
          <p:cNvPr id="5" name="Shape 3"/>
          <p:cNvSpPr/>
          <p:nvPr/>
        </p:nvSpPr>
        <p:spPr>
          <a:xfrm>
            <a:off x="548640" y="1444752"/>
            <a:ext cx="54864" cy="1920240"/>
          </a:xfrm>
          <a:prstGeom prst="rect">
            <a:avLst/>
          </a:prstGeom>
          <a:solidFill>
            <a:srgbClr val="1A6B3C"/>
          </a:solidFill>
          <a:ln w="12700">
            <a:solidFill>
              <a:srgbClr val="1A6B3C"/>
            </a:solidFill>
            <a:prstDash val="solid"/>
          </a:ln>
        </p:spPr>
        <p:txBody>
          <a:bodyPr/>
          <a:lstStyle/>
          <a:p>
            <a:endParaRPr lang="en-US"/>
          </a:p>
        </p:txBody>
      </p:sp>
      <p:sp>
        <p:nvSpPr>
          <p:cNvPr id="6" name="Text 4"/>
          <p:cNvSpPr txBox="1"/>
          <p:nvPr/>
        </p:nvSpPr>
        <p:spPr>
          <a:xfrm>
            <a:off x="685800" y="1563624"/>
            <a:ext cx="2423160" cy="182880"/>
          </a:xfrm>
          <a:prstGeom prst="rect">
            <a:avLst/>
          </a:prstGeom>
          <a:noFill/>
          <a:ln/>
        </p:spPr>
        <p:txBody>
          <a:bodyPr wrap="square" rtlCol="0" anchor="ctr"/>
          <a:lstStyle/>
          <a:p>
            <a:pPr marL="0" indent="0">
              <a:buNone/>
            </a:pPr>
            <a:r>
              <a:rPr lang="en-US" sz="800" b="1" kern="0" spc="80" dirty="0">
                <a:solidFill>
                  <a:srgbClr val="1A6B3C"/>
                </a:solidFill>
              </a:rPr>
              <a:t>PRIMARY · NOW</a:t>
            </a:r>
            <a:endParaRPr lang="en-US" sz="800" dirty="0"/>
          </a:p>
        </p:txBody>
      </p:sp>
      <p:sp>
        <p:nvSpPr>
          <p:cNvPr id="7" name="Text 5"/>
          <p:cNvSpPr txBox="1"/>
          <p:nvPr/>
        </p:nvSpPr>
        <p:spPr>
          <a:xfrm>
            <a:off x="685800" y="1764792"/>
            <a:ext cx="2423160" cy="201168"/>
          </a:xfrm>
          <a:prstGeom prst="rect">
            <a:avLst/>
          </a:prstGeom>
          <a:noFill/>
          <a:ln/>
        </p:spPr>
        <p:txBody>
          <a:bodyPr wrap="square" rtlCol="0" anchor="ctr"/>
          <a:lstStyle/>
          <a:p>
            <a:pPr marL="0" indent="0">
              <a:buNone/>
            </a:pPr>
            <a:r>
              <a:rPr lang="en-US" sz="1050" b="1" dirty="0">
                <a:solidFill>
                  <a:srgbClr val="1A2540"/>
                </a:solidFill>
              </a:rPr>
              <a:t>Lease &amp; due diligence review</a:t>
            </a:r>
            <a:endParaRPr lang="en-US" sz="1050" dirty="0"/>
          </a:p>
        </p:txBody>
      </p:sp>
      <p:sp>
        <p:nvSpPr>
          <p:cNvPr id="8" name="Text 6"/>
          <p:cNvSpPr txBox="1"/>
          <p:nvPr/>
        </p:nvSpPr>
        <p:spPr>
          <a:xfrm>
            <a:off x="685800" y="1984248"/>
            <a:ext cx="2423160" cy="1289304"/>
          </a:xfrm>
          <a:prstGeom prst="rect">
            <a:avLst/>
          </a:prstGeom>
          <a:noFill/>
          <a:ln/>
        </p:spPr>
        <p:txBody>
          <a:bodyPr wrap="square" rtlCol="0" anchor="ctr"/>
          <a:lstStyle/>
          <a:p>
            <a:pPr marL="0" indent="0">
              <a:buNone/>
            </a:pPr>
            <a:r>
              <a:rPr lang="en-US" sz="950" dirty="0">
                <a:solidFill>
                  <a:srgbClr val="3D4F6E"/>
                </a:solidFill>
              </a:rPr>
              <a:t>AI extracts structured data from lease PDFs: key dates, rent, break options, unusual clauses. Lawyer reviews and approves output. 13-day cycle → 4.5 days. Direct ROI, clear scope, public data available, POC built.</a:t>
            </a:r>
            <a:endParaRPr lang="en-US" sz="950" dirty="0"/>
          </a:p>
        </p:txBody>
      </p:sp>
      <p:sp>
        <p:nvSpPr>
          <p:cNvPr id="9" name="Shape 7"/>
          <p:cNvSpPr/>
          <p:nvPr/>
        </p:nvSpPr>
        <p:spPr>
          <a:xfrm>
            <a:off x="3337560" y="1444752"/>
            <a:ext cx="2651760" cy="1920240"/>
          </a:xfrm>
          <a:prstGeom prst="rect">
            <a:avLst/>
          </a:prstGeom>
          <a:solidFill>
            <a:srgbClr val="E8ECF4"/>
          </a:solidFill>
          <a:ln w="12700">
            <a:solidFill>
              <a:srgbClr val="E8ECF4"/>
            </a:solidFill>
            <a:prstDash val="solid"/>
          </a:ln>
        </p:spPr>
        <p:txBody>
          <a:bodyPr/>
          <a:lstStyle/>
          <a:p>
            <a:endParaRPr lang="en-US"/>
          </a:p>
        </p:txBody>
      </p:sp>
      <p:sp>
        <p:nvSpPr>
          <p:cNvPr id="10" name="Shape 8"/>
          <p:cNvSpPr/>
          <p:nvPr/>
        </p:nvSpPr>
        <p:spPr>
          <a:xfrm>
            <a:off x="3337560" y="1444752"/>
            <a:ext cx="54864" cy="1920240"/>
          </a:xfrm>
          <a:prstGeom prst="rect">
            <a:avLst/>
          </a:prstGeom>
          <a:solidFill>
            <a:srgbClr val="C8A84B"/>
          </a:solidFill>
          <a:ln w="12700">
            <a:solidFill>
              <a:srgbClr val="C8A84B"/>
            </a:solidFill>
            <a:prstDash val="solid"/>
          </a:ln>
        </p:spPr>
        <p:txBody>
          <a:bodyPr/>
          <a:lstStyle/>
          <a:p>
            <a:endParaRPr lang="en-US"/>
          </a:p>
        </p:txBody>
      </p:sp>
      <p:sp>
        <p:nvSpPr>
          <p:cNvPr id="11" name="Text 9"/>
          <p:cNvSpPr txBox="1"/>
          <p:nvPr/>
        </p:nvSpPr>
        <p:spPr>
          <a:xfrm>
            <a:off x="3474720" y="1563624"/>
            <a:ext cx="2423160" cy="182880"/>
          </a:xfrm>
          <a:prstGeom prst="rect">
            <a:avLst/>
          </a:prstGeom>
          <a:noFill/>
          <a:ln/>
        </p:spPr>
        <p:txBody>
          <a:bodyPr wrap="square" rtlCol="0" anchor="ctr"/>
          <a:lstStyle/>
          <a:p>
            <a:pPr marL="0" indent="0">
              <a:buNone/>
            </a:pPr>
            <a:r>
              <a:rPr lang="en-US" sz="800" b="1" kern="0" spc="80" dirty="0">
                <a:solidFill>
                  <a:srgbClr val="B45309"/>
                </a:solidFill>
              </a:rPr>
              <a:t>PHASE 2</a:t>
            </a:r>
            <a:endParaRPr lang="en-US" sz="800" dirty="0"/>
          </a:p>
        </p:txBody>
      </p:sp>
      <p:sp>
        <p:nvSpPr>
          <p:cNvPr id="12" name="Text 10"/>
          <p:cNvSpPr txBox="1"/>
          <p:nvPr/>
        </p:nvSpPr>
        <p:spPr>
          <a:xfrm>
            <a:off x="3474720" y="1764792"/>
            <a:ext cx="2423160" cy="201168"/>
          </a:xfrm>
          <a:prstGeom prst="rect">
            <a:avLst/>
          </a:prstGeom>
          <a:noFill/>
          <a:ln/>
        </p:spPr>
        <p:txBody>
          <a:bodyPr wrap="square" rtlCol="0" anchor="ctr"/>
          <a:lstStyle/>
          <a:p>
            <a:pPr marL="0" indent="0">
              <a:buNone/>
            </a:pPr>
            <a:r>
              <a:rPr lang="en-US" sz="1050" b="1" dirty="0">
                <a:solidFill>
                  <a:srgbClr val="1A2540"/>
                </a:solidFill>
              </a:rPr>
              <a:t>Portfolio obligation tracker</a:t>
            </a:r>
            <a:endParaRPr lang="en-US" sz="1050" dirty="0"/>
          </a:p>
        </p:txBody>
      </p:sp>
      <p:sp>
        <p:nvSpPr>
          <p:cNvPr id="13" name="Text 11"/>
          <p:cNvSpPr txBox="1"/>
          <p:nvPr/>
        </p:nvSpPr>
        <p:spPr>
          <a:xfrm>
            <a:off x="3474720" y="1984248"/>
            <a:ext cx="2423160" cy="1289304"/>
          </a:xfrm>
          <a:prstGeom prst="rect">
            <a:avLst/>
          </a:prstGeom>
          <a:noFill/>
          <a:ln/>
        </p:spPr>
        <p:txBody>
          <a:bodyPr wrap="square" rtlCol="0" anchor="ctr"/>
          <a:lstStyle/>
          <a:p>
            <a:pPr marL="0" indent="0">
              <a:buNone/>
            </a:pPr>
            <a:r>
              <a:rPr lang="en-US" sz="950" dirty="0">
                <a:solidFill>
                  <a:srgbClr val="3D4F6E"/>
                </a:solidFill>
              </a:rPr>
              <a:t>Extracted lease data feeds a live dashboard of upcoming break options, rent reviews, and expiry dates. Alerts at 90/60/30 days. Depends on Use Case 1 being trusted first.</a:t>
            </a:r>
            <a:endParaRPr lang="en-US" sz="950" dirty="0"/>
          </a:p>
        </p:txBody>
      </p:sp>
      <p:sp>
        <p:nvSpPr>
          <p:cNvPr id="14" name="Shape 12"/>
          <p:cNvSpPr/>
          <p:nvPr/>
        </p:nvSpPr>
        <p:spPr>
          <a:xfrm>
            <a:off x="6126480" y="1444752"/>
            <a:ext cx="2651760" cy="1920240"/>
          </a:xfrm>
          <a:prstGeom prst="rect">
            <a:avLst/>
          </a:prstGeom>
          <a:solidFill>
            <a:srgbClr val="E8ECF4"/>
          </a:solidFill>
          <a:ln w="12700">
            <a:solidFill>
              <a:srgbClr val="E8ECF4"/>
            </a:solidFill>
            <a:prstDash val="solid"/>
          </a:ln>
        </p:spPr>
        <p:txBody>
          <a:bodyPr/>
          <a:lstStyle/>
          <a:p>
            <a:endParaRPr lang="en-US"/>
          </a:p>
        </p:txBody>
      </p:sp>
      <p:sp>
        <p:nvSpPr>
          <p:cNvPr id="15" name="Shape 13"/>
          <p:cNvSpPr/>
          <p:nvPr/>
        </p:nvSpPr>
        <p:spPr>
          <a:xfrm>
            <a:off x="6126480" y="1444752"/>
            <a:ext cx="54864" cy="1920240"/>
          </a:xfrm>
          <a:prstGeom prst="rect">
            <a:avLst/>
          </a:prstGeom>
          <a:solidFill>
            <a:srgbClr val="8A9AB8"/>
          </a:solidFill>
          <a:ln w="12700">
            <a:solidFill>
              <a:srgbClr val="8A9AB8"/>
            </a:solidFill>
            <a:prstDash val="solid"/>
          </a:ln>
        </p:spPr>
        <p:txBody>
          <a:bodyPr/>
          <a:lstStyle/>
          <a:p>
            <a:endParaRPr lang="en-US"/>
          </a:p>
        </p:txBody>
      </p:sp>
      <p:sp>
        <p:nvSpPr>
          <p:cNvPr id="16" name="Text 14"/>
          <p:cNvSpPr txBox="1"/>
          <p:nvPr/>
        </p:nvSpPr>
        <p:spPr>
          <a:xfrm>
            <a:off x="6263640" y="1563624"/>
            <a:ext cx="2423160" cy="182880"/>
          </a:xfrm>
          <a:prstGeom prst="rect">
            <a:avLst/>
          </a:prstGeom>
          <a:noFill/>
          <a:ln/>
        </p:spPr>
        <p:txBody>
          <a:bodyPr wrap="square" rtlCol="0" anchor="ctr"/>
          <a:lstStyle/>
          <a:p>
            <a:pPr marL="0" indent="0">
              <a:buNone/>
            </a:pPr>
            <a:r>
              <a:rPr lang="en-US" sz="800" b="1" kern="0" spc="80" dirty="0">
                <a:solidFill>
                  <a:srgbClr val="8A9AB8"/>
                </a:solidFill>
              </a:rPr>
              <a:t>PHASE 3</a:t>
            </a:r>
            <a:endParaRPr lang="en-US" sz="800" dirty="0"/>
          </a:p>
        </p:txBody>
      </p:sp>
      <p:sp>
        <p:nvSpPr>
          <p:cNvPr id="17" name="Text 15"/>
          <p:cNvSpPr txBox="1"/>
          <p:nvPr/>
        </p:nvSpPr>
        <p:spPr>
          <a:xfrm>
            <a:off x="6263640" y="1764792"/>
            <a:ext cx="2423160" cy="201168"/>
          </a:xfrm>
          <a:prstGeom prst="rect">
            <a:avLst/>
          </a:prstGeom>
          <a:noFill/>
          <a:ln/>
        </p:spPr>
        <p:txBody>
          <a:bodyPr wrap="square" rtlCol="0" anchor="ctr"/>
          <a:lstStyle/>
          <a:p>
            <a:pPr marL="0" indent="0">
              <a:buNone/>
            </a:pPr>
            <a:r>
              <a:rPr lang="en-US" sz="1050" b="1" dirty="0">
                <a:solidFill>
                  <a:srgbClr val="1A2540"/>
                </a:solidFill>
              </a:rPr>
              <a:t>Construction contract pre-screening</a:t>
            </a:r>
            <a:endParaRPr lang="en-US" sz="1050" dirty="0"/>
          </a:p>
        </p:txBody>
      </p:sp>
      <p:sp>
        <p:nvSpPr>
          <p:cNvPr id="18" name="Text 16"/>
          <p:cNvSpPr txBox="1"/>
          <p:nvPr/>
        </p:nvSpPr>
        <p:spPr>
          <a:xfrm>
            <a:off x="6263640" y="1984248"/>
            <a:ext cx="2423160" cy="1289304"/>
          </a:xfrm>
          <a:prstGeom prst="rect">
            <a:avLst/>
          </a:prstGeom>
          <a:noFill/>
          <a:ln/>
        </p:spPr>
        <p:txBody>
          <a:bodyPr wrap="square" rtlCol="0" anchor="ctr"/>
          <a:lstStyle/>
          <a:p>
            <a:pPr marL="0" indent="0">
              <a:buNone/>
            </a:pPr>
            <a:r>
              <a:rPr lang="en-US" sz="950" dirty="0">
                <a:solidFill>
                  <a:srgbClr val="3D4F6E"/>
                </a:solidFill>
              </a:rPr>
              <a:t>AI pre-screens incoming contractor proposals, flags deviations from standard terms, generates negotiation summary. Lower data availability — deprioritised for now.</a:t>
            </a:r>
            <a:endParaRPr lang="en-US" sz="950" dirty="0"/>
          </a:p>
        </p:txBody>
      </p:sp>
      <p:sp>
        <p:nvSpPr>
          <p:cNvPr id="19" name="Text 17"/>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04 · THE SOLUTION</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A lease review assistant that </a:t>
            </a:r>
            <a:r>
              <a:rPr lang="en-US" sz="2000" i="1" dirty="0">
                <a:solidFill>
                  <a:srgbClr val="3D4F6E"/>
                </a:solidFill>
                <a:latin typeface="Georgia" pitchFamily="34" charset="0"/>
                <a:ea typeface="Georgia" pitchFamily="34" charset="-122"/>
                <a:cs typeface="Georgia" pitchFamily="34" charset="-120"/>
              </a:rPr>
              <a:t>drafts, cites, and flags</a:t>
            </a:r>
            <a:endParaRPr lang="en-US" sz="2000" dirty="0"/>
          </a:p>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 - the lawyer decides.</a:t>
            </a:r>
            <a:endParaRPr lang="en-US" sz="2000" dirty="0"/>
          </a:p>
        </p:txBody>
      </p:sp>
      <p:sp>
        <p:nvSpPr>
          <p:cNvPr id="4" name="Shape 2"/>
          <p:cNvSpPr/>
          <p:nvPr/>
        </p:nvSpPr>
        <p:spPr>
          <a:xfrm>
            <a:off x="320040" y="1572768"/>
            <a:ext cx="1170432" cy="475488"/>
          </a:xfrm>
          <a:prstGeom prst="rect">
            <a:avLst/>
          </a:prstGeom>
          <a:solidFill>
            <a:srgbClr val="E8ECF4"/>
          </a:solidFill>
          <a:ln w="12700">
            <a:solidFill>
              <a:srgbClr val="D0D8EA"/>
            </a:solidFill>
            <a:prstDash val="solid"/>
          </a:ln>
        </p:spPr>
        <p:txBody>
          <a:bodyPr/>
          <a:lstStyle/>
          <a:p>
            <a:endParaRPr lang="en-US"/>
          </a:p>
        </p:txBody>
      </p:sp>
      <p:sp>
        <p:nvSpPr>
          <p:cNvPr id="5" name="Text 3"/>
          <p:cNvSpPr txBox="1"/>
          <p:nvPr/>
        </p:nvSpPr>
        <p:spPr>
          <a:xfrm>
            <a:off x="320040" y="1572768"/>
            <a:ext cx="1170432" cy="475488"/>
          </a:xfrm>
          <a:prstGeom prst="rect">
            <a:avLst/>
          </a:prstGeom>
          <a:noFill/>
          <a:ln/>
        </p:spPr>
        <p:txBody>
          <a:bodyPr wrap="square" rtlCol="0" anchor="ctr"/>
          <a:lstStyle/>
          <a:p>
            <a:pPr marL="0" indent="0" algn="ctr">
              <a:lnSpc>
                <a:spcPct val="120000"/>
              </a:lnSpc>
              <a:buNone/>
            </a:pPr>
            <a:r>
              <a:rPr lang="en-US" sz="850" dirty="0">
                <a:solidFill>
                  <a:srgbClr val="1A2540"/>
                </a:solidFill>
              </a:rPr>
              <a:t>Lease PDF</a:t>
            </a:r>
            <a:endParaRPr lang="en-US" sz="850" dirty="0"/>
          </a:p>
        </p:txBody>
      </p:sp>
      <p:sp>
        <p:nvSpPr>
          <p:cNvPr id="6" name="Text 4"/>
          <p:cNvSpPr txBox="1"/>
          <p:nvPr/>
        </p:nvSpPr>
        <p:spPr>
          <a:xfrm>
            <a:off x="1490472" y="1700784"/>
            <a:ext cx="274320" cy="219456"/>
          </a:xfrm>
          <a:prstGeom prst="rect">
            <a:avLst/>
          </a:prstGeom>
          <a:noFill/>
          <a:ln/>
        </p:spPr>
        <p:txBody>
          <a:bodyPr wrap="square" rtlCol="0" anchor="ctr"/>
          <a:lstStyle/>
          <a:p>
            <a:pPr marL="0" indent="0" algn="ctr">
              <a:buNone/>
            </a:pPr>
            <a:r>
              <a:rPr lang="en-US" sz="1200" dirty="0">
                <a:solidFill>
                  <a:srgbClr val="8A9AB8"/>
                </a:solidFill>
              </a:rPr>
              <a:t>→</a:t>
            </a:r>
            <a:endParaRPr lang="en-US" sz="1200" dirty="0"/>
          </a:p>
        </p:txBody>
      </p:sp>
      <p:sp>
        <p:nvSpPr>
          <p:cNvPr id="7" name="Shape 5"/>
          <p:cNvSpPr/>
          <p:nvPr/>
        </p:nvSpPr>
        <p:spPr>
          <a:xfrm>
            <a:off x="1764792" y="1572768"/>
            <a:ext cx="1170432" cy="475488"/>
          </a:xfrm>
          <a:prstGeom prst="rect">
            <a:avLst/>
          </a:prstGeom>
          <a:solidFill>
            <a:srgbClr val="E8ECF4"/>
          </a:solidFill>
          <a:ln w="12700">
            <a:solidFill>
              <a:srgbClr val="D0D8EA"/>
            </a:solidFill>
            <a:prstDash val="solid"/>
          </a:ln>
        </p:spPr>
        <p:txBody>
          <a:bodyPr/>
          <a:lstStyle/>
          <a:p>
            <a:endParaRPr lang="en-US"/>
          </a:p>
        </p:txBody>
      </p:sp>
      <p:sp>
        <p:nvSpPr>
          <p:cNvPr id="8" name="Text 6"/>
          <p:cNvSpPr txBox="1"/>
          <p:nvPr/>
        </p:nvSpPr>
        <p:spPr>
          <a:xfrm>
            <a:off x="1764792" y="1572768"/>
            <a:ext cx="1170432" cy="475488"/>
          </a:xfrm>
          <a:prstGeom prst="rect">
            <a:avLst/>
          </a:prstGeom>
          <a:noFill/>
          <a:ln/>
        </p:spPr>
        <p:txBody>
          <a:bodyPr wrap="square" rtlCol="0" anchor="ctr"/>
          <a:lstStyle/>
          <a:p>
            <a:pPr marL="0" indent="0" algn="ctr">
              <a:lnSpc>
                <a:spcPct val="120000"/>
              </a:lnSpc>
              <a:buNone/>
            </a:pPr>
            <a:r>
              <a:rPr lang="en-US" sz="850" dirty="0">
                <a:solidFill>
                  <a:srgbClr val="1A2540"/>
                </a:solidFill>
              </a:rPr>
              <a:t>Text extraction</a:t>
            </a:r>
            <a:endParaRPr lang="en-US" sz="850" dirty="0"/>
          </a:p>
        </p:txBody>
      </p:sp>
      <p:sp>
        <p:nvSpPr>
          <p:cNvPr id="9" name="Text 7"/>
          <p:cNvSpPr txBox="1"/>
          <p:nvPr/>
        </p:nvSpPr>
        <p:spPr>
          <a:xfrm>
            <a:off x="2935224" y="1700784"/>
            <a:ext cx="274320" cy="219456"/>
          </a:xfrm>
          <a:prstGeom prst="rect">
            <a:avLst/>
          </a:prstGeom>
          <a:noFill/>
          <a:ln/>
        </p:spPr>
        <p:txBody>
          <a:bodyPr wrap="square" rtlCol="0" anchor="ctr"/>
          <a:lstStyle/>
          <a:p>
            <a:pPr marL="0" indent="0" algn="ctr">
              <a:buNone/>
            </a:pPr>
            <a:r>
              <a:rPr lang="en-US" sz="1200" dirty="0">
                <a:solidFill>
                  <a:srgbClr val="8A9AB8"/>
                </a:solidFill>
              </a:rPr>
              <a:t>→</a:t>
            </a:r>
            <a:endParaRPr lang="en-US" sz="1200" dirty="0"/>
          </a:p>
        </p:txBody>
      </p:sp>
      <p:sp>
        <p:nvSpPr>
          <p:cNvPr id="10" name="Shape 8"/>
          <p:cNvSpPr/>
          <p:nvPr/>
        </p:nvSpPr>
        <p:spPr>
          <a:xfrm>
            <a:off x="3209544" y="1572768"/>
            <a:ext cx="1170432" cy="475488"/>
          </a:xfrm>
          <a:prstGeom prst="rect">
            <a:avLst/>
          </a:prstGeom>
          <a:solidFill>
            <a:srgbClr val="0F1F3D"/>
          </a:solidFill>
          <a:ln w="12700">
            <a:solidFill>
              <a:srgbClr val="0F1F3D"/>
            </a:solidFill>
            <a:prstDash val="solid"/>
          </a:ln>
        </p:spPr>
        <p:txBody>
          <a:bodyPr/>
          <a:lstStyle/>
          <a:p>
            <a:endParaRPr lang="en-US"/>
          </a:p>
        </p:txBody>
      </p:sp>
      <p:sp>
        <p:nvSpPr>
          <p:cNvPr id="11" name="Text 9"/>
          <p:cNvSpPr txBox="1"/>
          <p:nvPr/>
        </p:nvSpPr>
        <p:spPr>
          <a:xfrm>
            <a:off x="3209544" y="1572768"/>
            <a:ext cx="1170432" cy="475488"/>
          </a:xfrm>
          <a:prstGeom prst="rect">
            <a:avLst/>
          </a:prstGeom>
          <a:noFill/>
          <a:ln/>
        </p:spPr>
        <p:txBody>
          <a:bodyPr wrap="square" rtlCol="0" anchor="ctr"/>
          <a:lstStyle/>
          <a:p>
            <a:pPr marL="0" indent="0" algn="ctr">
              <a:lnSpc>
                <a:spcPct val="120000"/>
              </a:lnSpc>
              <a:buNone/>
            </a:pPr>
            <a:r>
              <a:rPr lang="en-US" sz="850" b="1" dirty="0">
                <a:solidFill>
                  <a:srgbClr val="FFFFFF"/>
                </a:solidFill>
              </a:rPr>
              <a:t>LLM extraction</a:t>
            </a:r>
            <a:endParaRPr lang="en-US" sz="850" dirty="0"/>
          </a:p>
          <a:p>
            <a:pPr marL="0" indent="0" algn="ctr">
              <a:lnSpc>
                <a:spcPct val="120000"/>
              </a:lnSpc>
              <a:buNone/>
            </a:pPr>
            <a:r>
              <a:rPr lang="en-US" sz="850" b="1" dirty="0">
                <a:solidFill>
                  <a:srgbClr val="FFFFFF"/>
                </a:solidFill>
              </a:rPr>
              <a:t>16 fields</a:t>
            </a:r>
            <a:endParaRPr lang="en-US" sz="850" dirty="0"/>
          </a:p>
        </p:txBody>
      </p:sp>
      <p:sp>
        <p:nvSpPr>
          <p:cNvPr id="12" name="Text 10"/>
          <p:cNvSpPr txBox="1"/>
          <p:nvPr/>
        </p:nvSpPr>
        <p:spPr>
          <a:xfrm>
            <a:off x="4379976" y="1700784"/>
            <a:ext cx="274320" cy="219456"/>
          </a:xfrm>
          <a:prstGeom prst="rect">
            <a:avLst/>
          </a:prstGeom>
          <a:noFill/>
          <a:ln/>
        </p:spPr>
        <p:txBody>
          <a:bodyPr wrap="square" rtlCol="0" anchor="ctr"/>
          <a:lstStyle/>
          <a:p>
            <a:pPr marL="0" indent="0" algn="ctr">
              <a:buNone/>
            </a:pPr>
            <a:r>
              <a:rPr lang="en-US" sz="1200" dirty="0">
                <a:solidFill>
                  <a:srgbClr val="8A9AB8"/>
                </a:solidFill>
              </a:rPr>
              <a:t>→</a:t>
            </a:r>
            <a:endParaRPr lang="en-US" sz="1200" dirty="0"/>
          </a:p>
        </p:txBody>
      </p:sp>
      <p:sp>
        <p:nvSpPr>
          <p:cNvPr id="13" name="Shape 11"/>
          <p:cNvSpPr/>
          <p:nvPr/>
        </p:nvSpPr>
        <p:spPr>
          <a:xfrm>
            <a:off x="4654296" y="1572768"/>
            <a:ext cx="1170432" cy="475488"/>
          </a:xfrm>
          <a:prstGeom prst="rect">
            <a:avLst/>
          </a:prstGeom>
          <a:solidFill>
            <a:srgbClr val="0F1F3D"/>
          </a:solidFill>
          <a:ln w="12700">
            <a:solidFill>
              <a:srgbClr val="0F1F3D"/>
            </a:solidFill>
            <a:prstDash val="solid"/>
          </a:ln>
        </p:spPr>
        <p:txBody>
          <a:bodyPr/>
          <a:lstStyle/>
          <a:p>
            <a:endParaRPr lang="en-US"/>
          </a:p>
        </p:txBody>
      </p:sp>
      <p:sp>
        <p:nvSpPr>
          <p:cNvPr id="14" name="Text 12"/>
          <p:cNvSpPr txBox="1"/>
          <p:nvPr/>
        </p:nvSpPr>
        <p:spPr>
          <a:xfrm>
            <a:off x="4654296" y="1572768"/>
            <a:ext cx="1170432" cy="475488"/>
          </a:xfrm>
          <a:prstGeom prst="rect">
            <a:avLst/>
          </a:prstGeom>
          <a:noFill/>
          <a:ln/>
        </p:spPr>
        <p:txBody>
          <a:bodyPr wrap="square" rtlCol="0" anchor="ctr"/>
          <a:lstStyle/>
          <a:p>
            <a:pPr marL="0" indent="0" algn="ctr">
              <a:lnSpc>
                <a:spcPct val="120000"/>
              </a:lnSpc>
              <a:buNone/>
            </a:pPr>
            <a:r>
              <a:rPr lang="en-US" sz="850" b="1" dirty="0">
                <a:solidFill>
                  <a:srgbClr val="FFFFFF"/>
                </a:solidFill>
              </a:rPr>
              <a:t>LLM flagging</a:t>
            </a:r>
            <a:endParaRPr lang="en-US" sz="850" dirty="0"/>
          </a:p>
          <a:p>
            <a:pPr marL="0" indent="0" algn="ctr">
              <a:lnSpc>
                <a:spcPct val="120000"/>
              </a:lnSpc>
              <a:buNone/>
            </a:pPr>
            <a:r>
              <a:rPr lang="en-US" sz="850" b="1" dirty="0">
                <a:solidFill>
                  <a:srgbClr val="FFFFFF"/>
                </a:solidFill>
              </a:rPr>
              <a:t>unusual clauses</a:t>
            </a:r>
            <a:endParaRPr lang="en-US" sz="850" dirty="0"/>
          </a:p>
        </p:txBody>
      </p:sp>
      <p:sp>
        <p:nvSpPr>
          <p:cNvPr id="15" name="Text 13"/>
          <p:cNvSpPr txBox="1"/>
          <p:nvPr/>
        </p:nvSpPr>
        <p:spPr>
          <a:xfrm>
            <a:off x="5824728" y="1700784"/>
            <a:ext cx="274320" cy="219456"/>
          </a:xfrm>
          <a:prstGeom prst="rect">
            <a:avLst/>
          </a:prstGeom>
          <a:noFill/>
          <a:ln/>
        </p:spPr>
        <p:txBody>
          <a:bodyPr wrap="square" rtlCol="0" anchor="ctr"/>
          <a:lstStyle/>
          <a:p>
            <a:pPr marL="0" indent="0" algn="ctr">
              <a:buNone/>
            </a:pPr>
            <a:r>
              <a:rPr lang="en-US" sz="1200" dirty="0">
                <a:solidFill>
                  <a:srgbClr val="8A9AB8"/>
                </a:solidFill>
              </a:rPr>
              <a:t>→</a:t>
            </a:r>
            <a:endParaRPr lang="en-US" sz="1200" dirty="0"/>
          </a:p>
        </p:txBody>
      </p:sp>
      <p:sp>
        <p:nvSpPr>
          <p:cNvPr id="16" name="Shape 14"/>
          <p:cNvSpPr/>
          <p:nvPr/>
        </p:nvSpPr>
        <p:spPr>
          <a:xfrm>
            <a:off x="6099048" y="1572768"/>
            <a:ext cx="1170432" cy="475488"/>
          </a:xfrm>
          <a:prstGeom prst="rect">
            <a:avLst/>
          </a:prstGeom>
          <a:solidFill>
            <a:srgbClr val="E8ECF4"/>
          </a:solidFill>
          <a:ln w="12700">
            <a:solidFill>
              <a:srgbClr val="D0D8EA"/>
            </a:solidFill>
            <a:prstDash val="solid"/>
          </a:ln>
        </p:spPr>
        <p:txBody>
          <a:bodyPr/>
          <a:lstStyle/>
          <a:p>
            <a:endParaRPr lang="en-US"/>
          </a:p>
        </p:txBody>
      </p:sp>
      <p:sp>
        <p:nvSpPr>
          <p:cNvPr id="17" name="Text 15"/>
          <p:cNvSpPr txBox="1"/>
          <p:nvPr/>
        </p:nvSpPr>
        <p:spPr>
          <a:xfrm>
            <a:off x="6099048" y="1572768"/>
            <a:ext cx="1170432" cy="475488"/>
          </a:xfrm>
          <a:prstGeom prst="rect">
            <a:avLst/>
          </a:prstGeom>
          <a:noFill/>
          <a:ln/>
        </p:spPr>
        <p:txBody>
          <a:bodyPr wrap="square" rtlCol="0" anchor="ctr"/>
          <a:lstStyle/>
          <a:p>
            <a:pPr marL="0" indent="0" algn="ctr">
              <a:lnSpc>
                <a:spcPct val="120000"/>
              </a:lnSpc>
              <a:buNone/>
            </a:pPr>
            <a:r>
              <a:rPr lang="en-US" sz="850" dirty="0">
                <a:solidFill>
                  <a:srgbClr val="1A2540"/>
                </a:solidFill>
              </a:rPr>
              <a:t>Structured JSON</a:t>
            </a:r>
            <a:endParaRPr lang="en-US" sz="850" dirty="0"/>
          </a:p>
          <a:p>
            <a:pPr marL="0" indent="0" algn="ctr">
              <a:lnSpc>
                <a:spcPct val="120000"/>
              </a:lnSpc>
              <a:buNone/>
            </a:pPr>
            <a:r>
              <a:rPr lang="en-US" sz="850" dirty="0">
                <a:solidFill>
                  <a:srgbClr val="1A2540"/>
                </a:solidFill>
              </a:rPr>
              <a:t>+ source quotes</a:t>
            </a:r>
            <a:endParaRPr lang="en-US" sz="850" dirty="0"/>
          </a:p>
        </p:txBody>
      </p:sp>
      <p:sp>
        <p:nvSpPr>
          <p:cNvPr id="18" name="Text 16"/>
          <p:cNvSpPr txBox="1"/>
          <p:nvPr/>
        </p:nvSpPr>
        <p:spPr>
          <a:xfrm>
            <a:off x="7269480" y="1700784"/>
            <a:ext cx="274320" cy="219456"/>
          </a:xfrm>
          <a:prstGeom prst="rect">
            <a:avLst/>
          </a:prstGeom>
          <a:noFill/>
          <a:ln/>
        </p:spPr>
        <p:txBody>
          <a:bodyPr wrap="square" rtlCol="0" anchor="ctr"/>
          <a:lstStyle/>
          <a:p>
            <a:pPr marL="0" indent="0" algn="ctr">
              <a:buNone/>
            </a:pPr>
            <a:r>
              <a:rPr lang="en-US" sz="1200" dirty="0">
                <a:solidFill>
                  <a:srgbClr val="8A9AB8"/>
                </a:solidFill>
              </a:rPr>
              <a:t>→</a:t>
            </a:r>
            <a:endParaRPr lang="en-US" sz="1200" dirty="0"/>
          </a:p>
        </p:txBody>
      </p:sp>
      <p:sp>
        <p:nvSpPr>
          <p:cNvPr id="19" name="Shape 17"/>
          <p:cNvSpPr/>
          <p:nvPr/>
        </p:nvSpPr>
        <p:spPr>
          <a:xfrm>
            <a:off x="7543800" y="1572768"/>
            <a:ext cx="1170432" cy="475488"/>
          </a:xfrm>
          <a:prstGeom prst="rect">
            <a:avLst/>
          </a:prstGeom>
          <a:solidFill>
            <a:srgbClr val="E8ECF4"/>
          </a:solidFill>
          <a:ln w="12700">
            <a:solidFill>
              <a:srgbClr val="D0D8EA"/>
            </a:solidFill>
            <a:prstDash val="solid"/>
          </a:ln>
        </p:spPr>
        <p:txBody>
          <a:bodyPr/>
          <a:lstStyle/>
          <a:p>
            <a:endParaRPr lang="en-US"/>
          </a:p>
        </p:txBody>
      </p:sp>
      <p:sp>
        <p:nvSpPr>
          <p:cNvPr id="20" name="Text 18"/>
          <p:cNvSpPr txBox="1"/>
          <p:nvPr/>
        </p:nvSpPr>
        <p:spPr>
          <a:xfrm>
            <a:off x="7543800" y="1572768"/>
            <a:ext cx="1170432" cy="475488"/>
          </a:xfrm>
          <a:prstGeom prst="rect">
            <a:avLst/>
          </a:prstGeom>
          <a:noFill/>
          <a:ln/>
        </p:spPr>
        <p:txBody>
          <a:bodyPr wrap="square" rtlCol="0" anchor="ctr"/>
          <a:lstStyle/>
          <a:p>
            <a:pPr marL="0" indent="0" algn="ctr">
              <a:lnSpc>
                <a:spcPct val="120000"/>
              </a:lnSpc>
              <a:buNone/>
            </a:pPr>
            <a:r>
              <a:rPr lang="en-US" sz="850" dirty="0">
                <a:solidFill>
                  <a:srgbClr val="1A2540"/>
                </a:solidFill>
              </a:rPr>
              <a:t>Lawyer review</a:t>
            </a:r>
            <a:endParaRPr lang="en-US" sz="850" dirty="0"/>
          </a:p>
          <a:p>
            <a:pPr marL="0" indent="0" algn="ctr">
              <a:lnSpc>
                <a:spcPct val="120000"/>
              </a:lnSpc>
              <a:buNone/>
            </a:pPr>
            <a:r>
              <a:rPr lang="en-US" sz="850" dirty="0">
                <a:solidFill>
                  <a:srgbClr val="1A2540"/>
                </a:solidFill>
              </a:rPr>
              <a:t>&amp; sign-off</a:t>
            </a:r>
            <a:endParaRPr lang="en-US" sz="850" dirty="0"/>
          </a:p>
        </p:txBody>
      </p:sp>
      <p:sp>
        <p:nvSpPr>
          <p:cNvPr id="21" name="Text 19"/>
          <p:cNvSpPr txBox="1"/>
          <p:nvPr/>
        </p:nvSpPr>
        <p:spPr>
          <a:xfrm>
            <a:off x="548640" y="2487168"/>
            <a:ext cx="3749040" cy="822960"/>
          </a:xfrm>
          <a:prstGeom prst="rect">
            <a:avLst/>
          </a:prstGeom>
          <a:noFill/>
          <a:ln/>
        </p:spPr>
        <p:txBody>
          <a:bodyPr wrap="square" rtlCol="0" anchor="ctr"/>
          <a:lstStyle/>
          <a:p>
            <a:pPr marL="0" indent="0">
              <a:buNone/>
            </a:pPr>
            <a:r>
              <a:rPr lang="en-US" sz="1100" dirty="0">
                <a:solidFill>
                  <a:srgbClr val="3D4F6E"/>
                </a:solidFill>
              </a:rPr>
              <a:t>Every extracted field links to the exact source passage. Dates, rent amounts, break conditions — each cites the clause and page number it came from.</a:t>
            </a:r>
            <a:endParaRPr lang="en-US" sz="1100" dirty="0"/>
          </a:p>
          <a:p>
            <a:pPr marL="0" indent="0">
              <a:lnSpc>
                <a:spcPct val="140000"/>
              </a:lnSpc>
              <a:buNone/>
            </a:pPr>
            <a:endParaRPr lang="en-US" sz="1100" dirty="0"/>
          </a:p>
          <a:p>
            <a:pPr marL="0" indent="0">
              <a:buNone/>
            </a:pPr>
            <a:r>
              <a:rPr lang="en-US" sz="1100" dirty="0">
                <a:solidFill>
                  <a:srgbClr val="3D4F6E"/>
                </a:solidFill>
              </a:rPr>
              <a:t>Every flagged clause quotes the exact text and explains in plain language why it is unusual.</a:t>
            </a:r>
            <a:endParaRPr lang="en-US" sz="1100" dirty="0"/>
          </a:p>
        </p:txBody>
      </p:sp>
      <p:sp>
        <p:nvSpPr>
          <p:cNvPr id="22" name="Text 20"/>
          <p:cNvSpPr txBox="1"/>
          <p:nvPr/>
        </p:nvSpPr>
        <p:spPr>
          <a:xfrm>
            <a:off x="4654296" y="2560320"/>
            <a:ext cx="3749040" cy="822960"/>
          </a:xfrm>
          <a:prstGeom prst="rect">
            <a:avLst/>
          </a:prstGeom>
          <a:noFill/>
          <a:ln/>
        </p:spPr>
        <p:txBody>
          <a:bodyPr wrap="square" rtlCol="0" anchor="ctr"/>
          <a:lstStyle/>
          <a:p>
            <a:pPr marL="0" indent="0">
              <a:buNone/>
            </a:pPr>
            <a:r>
              <a:rPr lang="en-US" sz="1100" dirty="0">
                <a:solidFill>
                  <a:srgbClr val="3D4F6E"/>
                </a:solidFill>
              </a:rPr>
              <a:t>The AI does not make decisions. It produces a structured first draft. A lawyer reviews, corrects, and signs off before anything enters a financial model.</a:t>
            </a:r>
            <a:endParaRPr lang="en-US" sz="1100" dirty="0"/>
          </a:p>
          <a:p>
            <a:pPr marL="0" indent="0">
              <a:lnSpc>
                <a:spcPct val="140000"/>
              </a:lnSpc>
              <a:buNone/>
            </a:pPr>
            <a:endParaRPr lang="en-US" sz="1100" dirty="0"/>
          </a:p>
          <a:p>
            <a:pPr marL="0" indent="0">
              <a:buNone/>
            </a:pPr>
            <a:r>
              <a:rPr lang="en-US" sz="1100" dirty="0">
                <a:solidFill>
                  <a:srgbClr val="3D4F6E"/>
                </a:solidFill>
              </a:rPr>
              <a:t>Disclaimer on every output: "AI-generated draft. Must be reviewed by a qualified lawyer before use in any legal or financial decision."</a:t>
            </a:r>
            <a:endParaRPr lang="en-US" sz="1100" dirty="0"/>
          </a:p>
        </p:txBody>
      </p:sp>
      <p:sp>
        <p:nvSpPr>
          <p:cNvPr id="23" name="Text 21"/>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05 · PROOF OF CONCEPT</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The POC runs. </a:t>
            </a:r>
            <a:r>
              <a:rPr lang="en-US" sz="2000" i="1" dirty="0">
                <a:solidFill>
                  <a:srgbClr val="3D4F6E"/>
                </a:solidFill>
                <a:latin typeface="Georgia" pitchFamily="34" charset="0"/>
                <a:ea typeface="Georgia" pitchFamily="34" charset="-122"/>
                <a:cs typeface="Georgia" pitchFamily="34" charset="-120"/>
              </a:rPr>
              <a:t>Sample output below.</a:t>
            </a:r>
            <a:endParaRPr lang="en-US" sz="2000" dirty="0"/>
          </a:p>
        </p:txBody>
      </p:sp>
      <p:sp>
        <p:nvSpPr>
          <p:cNvPr id="4" name="Text 2"/>
          <p:cNvSpPr txBox="1"/>
          <p:nvPr/>
        </p:nvSpPr>
        <p:spPr>
          <a:xfrm>
            <a:off x="548640" y="1463040"/>
            <a:ext cx="3657600" cy="868680"/>
          </a:xfrm>
          <a:prstGeom prst="rect">
            <a:avLst/>
          </a:prstGeom>
          <a:noFill/>
          <a:ln/>
        </p:spPr>
        <p:txBody>
          <a:bodyPr wrap="square" rtlCol="0" anchor="ctr"/>
          <a:lstStyle/>
          <a:p>
            <a:pPr marL="0" indent="0">
              <a:lnSpc>
                <a:spcPct val="140000"/>
              </a:lnSpc>
              <a:buNone/>
            </a:pPr>
            <a:r>
              <a:rPr lang="en-US" sz="1100" dirty="0">
                <a:solidFill>
                  <a:srgbClr val="3D4F6E"/>
                </a:solidFill>
              </a:rPr>
              <a:t>Tool: n8n cloud: 6 nodes, no custom code. OpenAI GPT-4o, temperature 0.</a:t>
            </a:r>
            <a:endParaRPr lang="en-US" sz="1100" dirty="0"/>
          </a:p>
          <a:p>
            <a:pPr marL="0" indent="0">
              <a:lnSpc>
                <a:spcPct val="140000"/>
              </a:lnSpc>
              <a:buNone/>
            </a:pPr>
            <a:r>
              <a:rPr lang="en-US" sz="1100" dirty="0">
                <a:solidFill>
                  <a:srgbClr val="3D4F6E"/>
                </a:solidFill>
              </a:rPr>
              <a:t>Input: commercial lease text via HTTP POST.</a:t>
            </a:r>
            <a:endParaRPr lang="en-US" sz="1100" dirty="0"/>
          </a:p>
          <a:p>
            <a:pPr marL="0" indent="0">
              <a:buNone/>
            </a:pPr>
            <a:r>
              <a:rPr lang="en-US" sz="1100" dirty="0">
                <a:solidFill>
                  <a:srgbClr val="3D4F6E"/>
                </a:solidFill>
              </a:rPr>
              <a:t>Output: structured JSON with 16 extracted fields and flagged clauses with source quotes.</a:t>
            </a:r>
            <a:endParaRPr lang="en-US" sz="1100" dirty="0"/>
          </a:p>
          <a:p>
            <a:pPr marL="0" indent="0">
              <a:lnSpc>
                <a:spcPct val="140000"/>
              </a:lnSpc>
              <a:buNone/>
            </a:pPr>
            <a:r>
              <a:rPr lang="en-US" sz="1100" dirty="0">
                <a:solidFill>
                  <a:srgbClr val="3D4F6E"/>
                </a:solidFill>
              </a:rPr>
              <a:t>Tested on: 5 synthetic lease cases.</a:t>
            </a:r>
            <a:endParaRPr lang="en-US" sz="1100" dirty="0"/>
          </a:p>
        </p:txBody>
      </p:sp>
      <p:sp>
        <p:nvSpPr>
          <p:cNvPr id="5" name="Shape 3"/>
          <p:cNvSpPr/>
          <p:nvPr/>
        </p:nvSpPr>
        <p:spPr>
          <a:xfrm>
            <a:off x="4389120" y="1417320"/>
            <a:ext cx="4389120" cy="2286000"/>
          </a:xfrm>
          <a:prstGeom prst="rect">
            <a:avLst/>
          </a:prstGeom>
          <a:solidFill>
            <a:srgbClr val="E8ECF4"/>
          </a:solidFill>
          <a:ln w="12700">
            <a:solidFill>
              <a:srgbClr val="E8ECF4"/>
            </a:solidFill>
            <a:prstDash val="solid"/>
          </a:ln>
        </p:spPr>
        <p:txBody>
          <a:bodyPr/>
          <a:lstStyle/>
          <a:p>
            <a:endParaRPr lang="en-US"/>
          </a:p>
        </p:txBody>
      </p:sp>
      <p:sp>
        <p:nvSpPr>
          <p:cNvPr id="6" name="Text 4"/>
          <p:cNvSpPr txBox="1"/>
          <p:nvPr/>
        </p:nvSpPr>
        <p:spPr>
          <a:xfrm>
            <a:off x="4526280" y="1508760"/>
            <a:ext cx="4114800" cy="182880"/>
          </a:xfrm>
          <a:prstGeom prst="rect">
            <a:avLst/>
          </a:prstGeom>
          <a:noFill/>
          <a:ln/>
        </p:spPr>
        <p:txBody>
          <a:bodyPr wrap="square" rtlCol="0" anchor="ctr"/>
          <a:lstStyle/>
          <a:p>
            <a:pPr marL="0" indent="0">
              <a:buNone/>
            </a:pPr>
            <a:r>
              <a:rPr lang="en-US" sz="800" b="1" kern="0" spc="80" dirty="0">
                <a:solidFill>
                  <a:srgbClr val="8A9AB8"/>
                </a:solidFill>
              </a:rPr>
              <a:t>SAMPLE FLAGGED CLAUSE OUTPUT</a:t>
            </a:r>
            <a:endParaRPr lang="en-US" sz="800" dirty="0"/>
          </a:p>
        </p:txBody>
      </p:sp>
      <p:sp>
        <p:nvSpPr>
          <p:cNvPr id="7" name="Text 5"/>
          <p:cNvSpPr txBox="1"/>
          <p:nvPr/>
        </p:nvSpPr>
        <p:spPr>
          <a:xfrm>
            <a:off x="4526280" y="1737360"/>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"risk_level": "high",</a:t>
            </a:r>
            <a:endParaRPr lang="en-US" sz="850" dirty="0"/>
          </a:p>
        </p:txBody>
      </p:sp>
      <p:sp>
        <p:nvSpPr>
          <p:cNvPr id="8" name="Text 6"/>
          <p:cNvSpPr txBox="1"/>
          <p:nvPr/>
        </p:nvSpPr>
        <p:spPr>
          <a:xfrm>
            <a:off x="4526280" y="1938528"/>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"clause_type": "Break condition",</a:t>
            </a:r>
            <a:endParaRPr lang="en-US" sz="850" dirty="0"/>
          </a:p>
        </p:txBody>
      </p:sp>
      <p:sp>
        <p:nvSpPr>
          <p:cNvPr id="9" name="Text 7"/>
          <p:cNvSpPr txBox="1"/>
          <p:nvPr/>
        </p:nvSpPr>
        <p:spPr>
          <a:xfrm>
            <a:off x="4526280" y="2139696"/>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"quoted_text": "dilapidations liability shall not</a:t>
            </a:r>
            <a:endParaRPr lang="en-US" sz="850" dirty="0"/>
          </a:p>
        </p:txBody>
      </p:sp>
      <p:sp>
        <p:nvSpPr>
          <p:cNvPr id="10" name="Text 8"/>
          <p:cNvSpPr txBox="1"/>
          <p:nvPr/>
        </p:nvSpPr>
        <p:spPr>
          <a:xfrm>
            <a:off x="4526280" y="2340864"/>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  be waived upon exercise of the break",</a:t>
            </a:r>
            <a:endParaRPr lang="en-US" sz="850" dirty="0"/>
          </a:p>
        </p:txBody>
      </p:sp>
      <p:sp>
        <p:nvSpPr>
          <p:cNvPr id="11" name="Text 9"/>
          <p:cNvSpPr txBox="1"/>
          <p:nvPr/>
        </p:nvSpPr>
        <p:spPr>
          <a:xfrm>
            <a:off x="4526280" y="2542032"/>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"plain_language": "Non-standard. Landlord</a:t>
            </a:r>
            <a:endParaRPr lang="en-US" sz="850" dirty="0"/>
          </a:p>
        </p:txBody>
      </p:sp>
      <p:sp>
        <p:nvSpPr>
          <p:cNvPr id="12" name="Text 10"/>
          <p:cNvSpPr txBox="1"/>
          <p:nvPr/>
        </p:nvSpPr>
        <p:spPr>
          <a:xfrm>
            <a:off x="4526280" y="2743200"/>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  retains right to pursue claims after break</a:t>
            </a:r>
            <a:endParaRPr lang="en-US" sz="850" dirty="0"/>
          </a:p>
        </p:txBody>
      </p:sp>
      <p:sp>
        <p:nvSpPr>
          <p:cNvPr id="13" name="Text 11"/>
          <p:cNvSpPr txBox="1"/>
          <p:nvPr/>
        </p:nvSpPr>
        <p:spPr>
          <a:xfrm>
            <a:off x="4526280" y="2944368"/>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  — significant financial exposure.",</a:t>
            </a:r>
            <a:endParaRPr lang="en-US" sz="850" dirty="0"/>
          </a:p>
        </p:txBody>
      </p:sp>
      <p:sp>
        <p:nvSpPr>
          <p:cNvPr id="14" name="Text 12"/>
          <p:cNvSpPr txBox="1"/>
          <p:nvPr/>
        </p:nvSpPr>
        <p:spPr>
          <a:xfrm>
            <a:off x="4526280" y="3145536"/>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"recommended_action": "Negotiate removal.</a:t>
            </a:r>
            <a:endParaRPr lang="en-US" sz="850" dirty="0"/>
          </a:p>
        </p:txBody>
      </p:sp>
      <p:sp>
        <p:nvSpPr>
          <p:cNvPr id="15" name="Text 13"/>
          <p:cNvSpPr txBox="1"/>
          <p:nvPr/>
        </p:nvSpPr>
        <p:spPr>
          <a:xfrm>
            <a:off x="4526280" y="3346704"/>
            <a:ext cx="4114800" cy="201168"/>
          </a:xfrm>
          <a:prstGeom prst="rect">
            <a:avLst/>
          </a:prstGeom>
          <a:noFill/>
          <a:ln/>
        </p:spPr>
        <p:txBody>
          <a:bodyPr wrap="square" rtlCol="0" anchor="ctr"/>
          <a:lstStyle/>
          <a:p>
            <a:pPr marL="0" indent="0">
              <a:buNone/>
            </a:pPr>
            <a:r>
              <a:rPr lang="en-US" sz="850" dirty="0">
                <a:solidFill>
                  <a:srgbClr val="1A2540"/>
                </a:solidFill>
                <a:latin typeface="Courier New" pitchFamily="34" charset="0"/>
                <a:ea typeface="Courier New" pitchFamily="34" charset="-122"/>
                <a:cs typeface="Courier New" pitchFamily="34" charset="-120"/>
              </a:rPr>
              <a:t>  Escalate to senior counsel."</a:t>
            </a:r>
            <a:endParaRPr lang="en-US" sz="850" dirty="0"/>
          </a:p>
        </p:txBody>
      </p:sp>
      <p:sp>
        <p:nvSpPr>
          <p:cNvPr id="16" name="Text 14"/>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06 · EVALUATION PLAN</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How we know it is working.
</a:t>
            </a:r>
            <a:r>
              <a:rPr lang="en-US" sz="2000" i="1" dirty="0">
                <a:solidFill>
                  <a:srgbClr val="3D4F6E"/>
                </a:solidFill>
                <a:latin typeface="Georgia" pitchFamily="34" charset="0"/>
                <a:ea typeface="Georgia" pitchFamily="34" charset="-122"/>
                <a:cs typeface="Georgia" pitchFamily="34" charset="-120"/>
              </a:rPr>
              <a:t>Five criteria, five scored cases.</a:t>
            </a:r>
            <a:endParaRPr lang="en-US" sz="2000" dirty="0"/>
          </a:p>
        </p:txBody>
      </p:sp>
      <p:sp>
        <p:nvSpPr>
          <p:cNvPr id="4" name="Shape 2"/>
          <p:cNvSpPr/>
          <p:nvPr/>
        </p:nvSpPr>
        <p:spPr>
          <a:xfrm>
            <a:off x="548640" y="1508760"/>
            <a:ext cx="2743200" cy="292608"/>
          </a:xfrm>
          <a:prstGeom prst="rect">
            <a:avLst/>
          </a:prstGeom>
          <a:solidFill>
            <a:srgbClr val="0F1F3D"/>
          </a:solidFill>
          <a:ln w="12700">
            <a:solidFill>
              <a:srgbClr val="0F1F3D"/>
            </a:solidFill>
            <a:prstDash val="solid"/>
          </a:ln>
        </p:spPr>
        <p:txBody>
          <a:bodyPr/>
          <a:lstStyle/>
          <a:p>
            <a:endParaRPr lang="en-US"/>
          </a:p>
        </p:txBody>
      </p:sp>
      <p:sp>
        <p:nvSpPr>
          <p:cNvPr id="5" name="Text 3"/>
          <p:cNvSpPr txBox="1"/>
          <p:nvPr/>
        </p:nvSpPr>
        <p:spPr>
          <a:xfrm>
            <a:off x="640080" y="1563624"/>
            <a:ext cx="2606040" cy="201168"/>
          </a:xfrm>
          <a:prstGeom prst="rect">
            <a:avLst/>
          </a:prstGeom>
          <a:noFill/>
          <a:ln/>
        </p:spPr>
        <p:txBody>
          <a:bodyPr wrap="square" rtlCol="0" anchor="ctr"/>
          <a:lstStyle/>
          <a:p>
            <a:pPr marL="0" indent="0">
              <a:buNone/>
            </a:pPr>
            <a:r>
              <a:rPr lang="en-US" sz="900" b="1" dirty="0">
                <a:solidFill>
                  <a:srgbClr val="FFFFFF"/>
                </a:solidFill>
              </a:rPr>
              <a:t>Criterion</a:t>
            </a:r>
            <a:endParaRPr lang="en-US" sz="900" dirty="0"/>
          </a:p>
        </p:txBody>
      </p:sp>
      <p:sp>
        <p:nvSpPr>
          <p:cNvPr id="6" name="Shape 4"/>
          <p:cNvSpPr/>
          <p:nvPr/>
        </p:nvSpPr>
        <p:spPr>
          <a:xfrm>
            <a:off x="3291840" y="1508760"/>
            <a:ext cx="3657600" cy="292608"/>
          </a:xfrm>
          <a:prstGeom prst="rect">
            <a:avLst/>
          </a:prstGeom>
          <a:solidFill>
            <a:srgbClr val="0F1F3D"/>
          </a:solidFill>
          <a:ln w="12700">
            <a:solidFill>
              <a:srgbClr val="0F1F3D"/>
            </a:solidFill>
            <a:prstDash val="solid"/>
          </a:ln>
        </p:spPr>
        <p:txBody>
          <a:bodyPr/>
          <a:lstStyle/>
          <a:p>
            <a:endParaRPr lang="en-US"/>
          </a:p>
        </p:txBody>
      </p:sp>
      <p:sp>
        <p:nvSpPr>
          <p:cNvPr id="7" name="Text 5"/>
          <p:cNvSpPr txBox="1"/>
          <p:nvPr/>
        </p:nvSpPr>
        <p:spPr>
          <a:xfrm>
            <a:off x="3383280" y="1563624"/>
            <a:ext cx="3520440" cy="201168"/>
          </a:xfrm>
          <a:prstGeom prst="rect">
            <a:avLst/>
          </a:prstGeom>
          <a:noFill/>
          <a:ln/>
        </p:spPr>
        <p:txBody>
          <a:bodyPr wrap="square" rtlCol="0" anchor="ctr"/>
          <a:lstStyle/>
          <a:p>
            <a:pPr marL="0" indent="0">
              <a:buNone/>
            </a:pPr>
            <a:r>
              <a:rPr lang="en-US" sz="900" b="1" dirty="0">
                <a:solidFill>
                  <a:srgbClr val="FFFFFF"/>
                </a:solidFill>
              </a:rPr>
              <a:t>Pass threshold</a:t>
            </a:r>
            <a:endParaRPr lang="en-US" sz="900" dirty="0"/>
          </a:p>
        </p:txBody>
      </p:sp>
      <p:sp>
        <p:nvSpPr>
          <p:cNvPr id="8" name="Shape 6"/>
          <p:cNvSpPr/>
          <p:nvPr/>
        </p:nvSpPr>
        <p:spPr>
          <a:xfrm>
            <a:off x="6949440" y="1508760"/>
            <a:ext cx="1371600" cy="292608"/>
          </a:xfrm>
          <a:prstGeom prst="rect">
            <a:avLst/>
          </a:prstGeom>
          <a:solidFill>
            <a:srgbClr val="0F1F3D"/>
          </a:solidFill>
          <a:ln w="12700">
            <a:solidFill>
              <a:srgbClr val="0F1F3D"/>
            </a:solidFill>
            <a:prstDash val="solid"/>
          </a:ln>
        </p:spPr>
        <p:txBody>
          <a:bodyPr/>
          <a:lstStyle/>
          <a:p>
            <a:endParaRPr lang="en-US"/>
          </a:p>
        </p:txBody>
      </p:sp>
      <p:sp>
        <p:nvSpPr>
          <p:cNvPr id="9" name="Text 7"/>
          <p:cNvSpPr txBox="1"/>
          <p:nvPr/>
        </p:nvSpPr>
        <p:spPr>
          <a:xfrm>
            <a:off x="7040880" y="1563624"/>
            <a:ext cx="1234440" cy="201168"/>
          </a:xfrm>
          <a:prstGeom prst="rect">
            <a:avLst/>
          </a:prstGeom>
          <a:noFill/>
          <a:ln/>
        </p:spPr>
        <p:txBody>
          <a:bodyPr wrap="square" rtlCol="0" anchor="ctr"/>
          <a:lstStyle/>
          <a:p>
            <a:pPr marL="0" indent="0">
              <a:buNone/>
            </a:pPr>
            <a:r>
              <a:rPr lang="en-US" sz="900" b="1" dirty="0">
                <a:solidFill>
                  <a:srgbClr val="FFFFFF"/>
                </a:solidFill>
              </a:rPr>
              <a:t>Cases 1–5</a:t>
            </a:r>
            <a:endParaRPr lang="en-US" sz="900" dirty="0"/>
          </a:p>
        </p:txBody>
      </p:sp>
      <p:sp>
        <p:nvSpPr>
          <p:cNvPr id="10" name="Shape 8"/>
          <p:cNvSpPr/>
          <p:nvPr/>
        </p:nvSpPr>
        <p:spPr>
          <a:xfrm>
            <a:off x="548640" y="1801368"/>
            <a:ext cx="2743200" cy="347472"/>
          </a:xfrm>
          <a:prstGeom prst="rect">
            <a:avLst/>
          </a:prstGeom>
          <a:solidFill>
            <a:srgbClr val="FFFFFF"/>
          </a:solidFill>
          <a:ln w="12700">
            <a:solidFill>
              <a:srgbClr val="E0E6F0"/>
            </a:solidFill>
            <a:prstDash val="solid"/>
          </a:ln>
        </p:spPr>
        <p:txBody>
          <a:bodyPr/>
          <a:lstStyle/>
          <a:p>
            <a:endParaRPr lang="en-US"/>
          </a:p>
        </p:txBody>
      </p:sp>
      <p:sp>
        <p:nvSpPr>
          <p:cNvPr id="11" name="Text 9"/>
          <p:cNvSpPr txBox="1"/>
          <p:nvPr/>
        </p:nvSpPr>
        <p:spPr>
          <a:xfrm>
            <a:off x="640080" y="1874520"/>
            <a:ext cx="2606040" cy="256032"/>
          </a:xfrm>
          <a:prstGeom prst="rect">
            <a:avLst/>
          </a:prstGeom>
          <a:noFill/>
          <a:ln/>
        </p:spPr>
        <p:txBody>
          <a:bodyPr wrap="square" rtlCol="0" anchor="ctr"/>
          <a:lstStyle/>
          <a:p>
            <a:pPr marL="0" indent="0">
              <a:lnSpc>
                <a:spcPct val="120000"/>
              </a:lnSpc>
              <a:buNone/>
            </a:pPr>
            <a:r>
              <a:rPr lang="en-US" sz="950" b="1" dirty="0">
                <a:solidFill>
                  <a:srgbClr val="1A2540"/>
                </a:solidFill>
              </a:rPr>
              <a:t>C1 · Extraction completeness</a:t>
            </a:r>
            <a:endParaRPr lang="en-US" sz="950" dirty="0"/>
          </a:p>
        </p:txBody>
      </p:sp>
      <p:sp>
        <p:nvSpPr>
          <p:cNvPr id="12" name="Shape 10"/>
          <p:cNvSpPr/>
          <p:nvPr/>
        </p:nvSpPr>
        <p:spPr>
          <a:xfrm>
            <a:off x="3291840" y="1801368"/>
            <a:ext cx="3657600" cy="347472"/>
          </a:xfrm>
          <a:prstGeom prst="rect">
            <a:avLst/>
          </a:prstGeom>
          <a:solidFill>
            <a:srgbClr val="FFFFFF"/>
          </a:solidFill>
          <a:ln w="12700">
            <a:solidFill>
              <a:srgbClr val="E0E6F0"/>
            </a:solidFill>
            <a:prstDash val="solid"/>
          </a:ln>
        </p:spPr>
        <p:txBody>
          <a:bodyPr/>
          <a:lstStyle/>
          <a:p>
            <a:endParaRPr lang="en-US"/>
          </a:p>
        </p:txBody>
      </p:sp>
      <p:sp>
        <p:nvSpPr>
          <p:cNvPr id="13" name="Text 11"/>
          <p:cNvSpPr txBox="1"/>
          <p:nvPr/>
        </p:nvSpPr>
        <p:spPr>
          <a:xfrm>
            <a:off x="3383280" y="1874520"/>
            <a:ext cx="3520440" cy="256032"/>
          </a:xfrm>
          <a:prstGeom prst="rect">
            <a:avLst/>
          </a:prstGeom>
          <a:noFill/>
          <a:ln/>
        </p:spPr>
        <p:txBody>
          <a:bodyPr wrap="square" rtlCol="0" anchor="ctr"/>
          <a:lstStyle/>
          <a:p>
            <a:pPr marL="0" indent="0">
              <a:lnSpc>
                <a:spcPct val="120000"/>
              </a:lnSpc>
              <a:buNone/>
            </a:pPr>
            <a:r>
              <a:rPr lang="en-US" sz="950" dirty="0">
                <a:solidFill>
                  <a:srgbClr val="3D4F6E"/>
                </a:solidFill>
              </a:rPr>
              <a:t>≥ 90% of present fields extracted</a:t>
            </a:r>
            <a:endParaRPr lang="en-US" sz="950" dirty="0"/>
          </a:p>
        </p:txBody>
      </p:sp>
      <p:sp>
        <p:nvSpPr>
          <p:cNvPr id="14" name="Shape 12"/>
          <p:cNvSpPr/>
          <p:nvPr/>
        </p:nvSpPr>
        <p:spPr>
          <a:xfrm>
            <a:off x="6949440" y="1801368"/>
            <a:ext cx="1371600" cy="347472"/>
          </a:xfrm>
          <a:prstGeom prst="rect">
            <a:avLst/>
          </a:prstGeom>
          <a:solidFill>
            <a:srgbClr val="FFFFFF"/>
          </a:solidFill>
          <a:ln w="12700">
            <a:solidFill>
              <a:srgbClr val="E0E6F0"/>
            </a:solidFill>
            <a:prstDash val="solid"/>
          </a:ln>
        </p:spPr>
        <p:txBody>
          <a:bodyPr/>
          <a:lstStyle/>
          <a:p>
            <a:endParaRPr lang="en-US"/>
          </a:p>
        </p:txBody>
      </p:sp>
      <p:sp>
        <p:nvSpPr>
          <p:cNvPr id="15" name="Text 13"/>
          <p:cNvSpPr txBox="1"/>
          <p:nvPr/>
        </p:nvSpPr>
        <p:spPr>
          <a:xfrm>
            <a:off x="7040880" y="1874520"/>
            <a:ext cx="1234440" cy="256032"/>
          </a:xfrm>
          <a:prstGeom prst="rect">
            <a:avLst/>
          </a:prstGeom>
          <a:noFill/>
          <a:ln/>
        </p:spPr>
        <p:txBody>
          <a:bodyPr wrap="square" rtlCol="0" anchor="ctr"/>
          <a:lstStyle/>
          <a:p>
            <a:pPr marL="0" indent="0">
              <a:lnSpc>
                <a:spcPct val="120000"/>
              </a:lnSpc>
              <a:buNone/>
            </a:pPr>
            <a:r>
              <a:rPr lang="en-US" sz="950" b="1" dirty="0">
                <a:solidFill>
                  <a:srgbClr val="1A6B3C"/>
                </a:solidFill>
              </a:rPr>
              <a:t>5/5 PASS</a:t>
            </a:r>
            <a:endParaRPr lang="en-US" sz="950" dirty="0"/>
          </a:p>
        </p:txBody>
      </p:sp>
      <p:sp>
        <p:nvSpPr>
          <p:cNvPr id="16" name="Shape 14"/>
          <p:cNvSpPr/>
          <p:nvPr/>
        </p:nvSpPr>
        <p:spPr>
          <a:xfrm>
            <a:off x="548640" y="2148840"/>
            <a:ext cx="2743200" cy="347472"/>
          </a:xfrm>
          <a:prstGeom prst="rect">
            <a:avLst/>
          </a:prstGeom>
          <a:solidFill>
            <a:srgbClr val="F4F6FB"/>
          </a:solidFill>
          <a:ln w="12700">
            <a:solidFill>
              <a:srgbClr val="E0E6F0"/>
            </a:solidFill>
            <a:prstDash val="solid"/>
          </a:ln>
        </p:spPr>
        <p:txBody>
          <a:bodyPr/>
          <a:lstStyle/>
          <a:p>
            <a:endParaRPr lang="en-US"/>
          </a:p>
        </p:txBody>
      </p:sp>
      <p:sp>
        <p:nvSpPr>
          <p:cNvPr id="17" name="Text 15"/>
          <p:cNvSpPr txBox="1"/>
          <p:nvPr/>
        </p:nvSpPr>
        <p:spPr>
          <a:xfrm>
            <a:off x="640080" y="2221992"/>
            <a:ext cx="2606040" cy="256032"/>
          </a:xfrm>
          <a:prstGeom prst="rect">
            <a:avLst/>
          </a:prstGeom>
          <a:noFill/>
          <a:ln/>
        </p:spPr>
        <p:txBody>
          <a:bodyPr wrap="square" rtlCol="0" anchor="ctr"/>
          <a:lstStyle/>
          <a:p>
            <a:pPr marL="0" indent="0">
              <a:lnSpc>
                <a:spcPct val="120000"/>
              </a:lnSpc>
              <a:buNone/>
            </a:pPr>
            <a:r>
              <a:rPr lang="en-US" sz="950" b="1" dirty="0">
                <a:solidFill>
                  <a:srgbClr val="1A2540"/>
                </a:solidFill>
              </a:rPr>
              <a:t>C2 · Extraction accuracy</a:t>
            </a:r>
            <a:endParaRPr lang="en-US" sz="950" dirty="0"/>
          </a:p>
        </p:txBody>
      </p:sp>
      <p:sp>
        <p:nvSpPr>
          <p:cNvPr id="18" name="Shape 16"/>
          <p:cNvSpPr/>
          <p:nvPr/>
        </p:nvSpPr>
        <p:spPr>
          <a:xfrm>
            <a:off x="3291840" y="2148840"/>
            <a:ext cx="3657600" cy="347472"/>
          </a:xfrm>
          <a:prstGeom prst="rect">
            <a:avLst/>
          </a:prstGeom>
          <a:solidFill>
            <a:srgbClr val="F4F6FB"/>
          </a:solidFill>
          <a:ln w="12700">
            <a:solidFill>
              <a:srgbClr val="E0E6F0"/>
            </a:solidFill>
            <a:prstDash val="solid"/>
          </a:ln>
        </p:spPr>
        <p:txBody>
          <a:bodyPr/>
          <a:lstStyle/>
          <a:p>
            <a:endParaRPr lang="en-US"/>
          </a:p>
        </p:txBody>
      </p:sp>
      <p:sp>
        <p:nvSpPr>
          <p:cNvPr id="19" name="Text 17"/>
          <p:cNvSpPr txBox="1"/>
          <p:nvPr/>
        </p:nvSpPr>
        <p:spPr>
          <a:xfrm>
            <a:off x="3383280" y="2221992"/>
            <a:ext cx="3520440" cy="256032"/>
          </a:xfrm>
          <a:prstGeom prst="rect">
            <a:avLst/>
          </a:prstGeom>
          <a:noFill/>
          <a:ln/>
        </p:spPr>
        <p:txBody>
          <a:bodyPr wrap="square" rtlCol="0" anchor="ctr"/>
          <a:lstStyle/>
          <a:p>
            <a:pPr marL="0" indent="0">
              <a:lnSpc>
                <a:spcPct val="120000"/>
              </a:lnSpc>
              <a:buNone/>
            </a:pPr>
            <a:r>
              <a:rPr lang="en-US" sz="950" dirty="0">
                <a:solidFill>
                  <a:srgbClr val="3D4F6E"/>
                </a:solidFill>
              </a:rPr>
              <a:t>≥ 90% of values match ground truth</a:t>
            </a:r>
            <a:endParaRPr lang="en-US" sz="950" dirty="0"/>
          </a:p>
        </p:txBody>
      </p:sp>
      <p:sp>
        <p:nvSpPr>
          <p:cNvPr id="20" name="Shape 18"/>
          <p:cNvSpPr/>
          <p:nvPr/>
        </p:nvSpPr>
        <p:spPr>
          <a:xfrm>
            <a:off x="6949440" y="2148840"/>
            <a:ext cx="1371600" cy="347472"/>
          </a:xfrm>
          <a:prstGeom prst="rect">
            <a:avLst/>
          </a:prstGeom>
          <a:solidFill>
            <a:srgbClr val="F4F6FB"/>
          </a:solidFill>
          <a:ln w="12700">
            <a:solidFill>
              <a:srgbClr val="E0E6F0"/>
            </a:solidFill>
            <a:prstDash val="solid"/>
          </a:ln>
        </p:spPr>
        <p:txBody>
          <a:bodyPr/>
          <a:lstStyle/>
          <a:p>
            <a:endParaRPr lang="en-US"/>
          </a:p>
        </p:txBody>
      </p:sp>
      <p:sp>
        <p:nvSpPr>
          <p:cNvPr id="21" name="Text 19"/>
          <p:cNvSpPr txBox="1"/>
          <p:nvPr/>
        </p:nvSpPr>
        <p:spPr>
          <a:xfrm>
            <a:off x="7040880" y="2221992"/>
            <a:ext cx="1234440" cy="256032"/>
          </a:xfrm>
          <a:prstGeom prst="rect">
            <a:avLst/>
          </a:prstGeom>
          <a:noFill/>
          <a:ln/>
        </p:spPr>
        <p:txBody>
          <a:bodyPr wrap="square" rtlCol="0" anchor="ctr"/>
          <a:lstStyle/>
          <a:p>
            <a:pPr marL="0" indent="0">
              <a:lnSpc>
                <a:spcPct val="120000"/>
              </a:lnSpc>
              <a:buNone/>
            </a:pPr>
            <a:r>
              <a:rPr lang="en-US" sz="950" b="1" dirty="0">
                <a:solidFill>
                  <a:srgbClr val="1A6B3C"/>
                </a:solidFill>
              </a:rPr>
              <a:t>5/5 PASS</a:t>
            </a:r>
            <a:endParaRPr lang="en-US" sz="950" dirty="0"/>
          </a:p>
        </p:txBody>
      </p:sp>
      <p:sp>
        <p:nvSpPr>
          <p:cNvPr id="22" name="Shape 20"/>
          <p:cNvSpPr/>
          <p:nvPr/>
        </p:nvSpPr>
        <p:spPr>
          <a:xfrm>
            <a:off x="548640" y="2496312"/>
            <a:ext cx="2743200" cy="347472"/>
          </a:xfrm>
          <a:prstGeom prst="rect">
            <a:avLst/>
          </a:prstGeom>
          <a:solidFill>
            <a:srgbClr val="FFFFFF"/>
          </a:solidFill>
          <a:ln w="12700">
            <a:solidFill>
              <a:srgbClr val="E0E6F0"/>
            </a:solidFill>
            <a:prstDash val="solid"/>
          </a:ln>
        </p:spPr>
        <p:txBody>
          <a:bodyPr/>
          <a:lstStyle/>
          <a:p>
            <a:endParaRPr lang="en-US"/>
          </a:p>
        </p:txBody>
      </p:sp>
      <p:sp>
        <p:nvSpPr>
          <p:cNvPr id="23" name="Text 21"/>
          <p:cNvSpPr txBox="1"/>
          <p:nvPr/>
        </p:nvSpPr>
        <p:spPr>
          <a:xfrm>
            <a:off x="640080" y="2569464"/>
            <a:ext cx="2606040" cy="256032"/>
          </a:xfrm>
          <a:prstGeom prst="rect">
            <a:avLst/>
          </a:prstGeom>
          <a:noFill/>
          <a:ln/>
        </p:spPr>
        <p:txBody>
          <a:bodyPr wrap="square" rtlCol="0" anchor="ctr"/>
          <a:lstStyle/>
          <a:p>
            <a:pPr marL="0" indent="0">
              <a:lnSpc>
                <a:spcPct val="120000"/>
              </a:lnSpc>
              <a:buNone/>
            </a:pPr>
            <a:r>
              <a:rPr lang="en-US" sz="950" b="1" dirty="0">
                <a:solidFill>
                  <a:srgbClr val="1A2540"/>
                </a:solidFill>
              </a:rPr>
              <a:t>C3 · No hallucination</a:t>
            </a:r>
            <a:endParaRPr lang="en-US" sz="950" dirty="0"/>
          </a:p>
        </p:txBody>
      </p:sp>
      <p:sp>
        <p:nvSpPr>
          <p:cNvPr id="24" name="Shape 22"/>
          <p:cNvSpPr/>
          <p:nvPr/>
        </p:nvSpPr>
        <p:spPr>
          <a:xfrm>
            <a:off x="3291840" y="2496312"/>
            <a:ext cx="3657600" cy="347472"/>
          </a:xfrm>
          <a:prstGeom prst="rect">
            <a:avLst/>
          </a:prstGeom>
          <a:solidFill>
            <a:srgbClr val="FFFFFF"/>
          </a:solidFill>
          <a:ln w="12700">
            <a:solidFill>
              <a:srgbClr val="E0E6F0"/>
            </a:solidFill>
            <a:prstDash val="solid"/>
          </a:ln>
        </p:spPr>
        <p:txBody>
          <a:bodyPr/>
          <a:lstStyle/>
          <a:p>
            <a:endParaRPr lang="en-US"/>
          </a:p>
        </p:txBody>
      </p:sp>
      <p:sp>
        <p:nvSpPr>
          <p:cNvPr id="25" name="Text 23"/>
          <p:cNvSpPr txBox="1"/>
          <p:nvPr/>
        </p:nvSpPr>
        <p:spPr>
          <a:xfrm>
            <a:off x="3383280" y="2569464"/>
            <a:ext cx="3520440" cy="256032"/>
          </a:xfrm>
          <a:prstGeom prst="rect">
            <a:avLst/>
          </a:prstGeom>
          <a:noFill/>
          <a:ln/>
        </p:spPr>
        <p:txBody>
          <a:bodyPr wrap="square" rtlCol="0" anchor="ctr"/>
          <a:lstStyle/>
          <a:p>
            <a:pPr marL="0" indent="0">
              <a:lnSpc>
                <a:spcPct val="120000"/>
              </a:lnSpc>
              <a:buNone/>
            </a:pPr>
            <a:r>
              <a:rPr lang="en-US" sz="950" dirty="0">
                <a:solidFill>
                  <a:srgbClr val="3D4F6E"/>
                </a:solidFill>
              </a:rPr>
              <a:t>Zero invented values; absent fields return null</a:t>
            </a:r>
            <a:endParaRPr lang="en-US" sz="950" dirty="0"/>
          </a:p>
        </p:txBody>
      </p:sp>
      <p:sp>
        <p:nvSpPr>
          <p:cNvPr id="26" name="Shape 24"/>
          <p:cNvSpPr/>
          <p:nvPr/>
        </p:nvSpPr>
        <p:spPr>
          <a:xfrm>
            <a:off x="6949440" y="2496312"/>
            <a:ext cx="1371600" cy="347472"/>
          </a:xfrm>
          <a:prstGeom prst="rect">
            <a:avLst/>
          </a:prstGeom>
          <a:solidFill>
            <a:srgbClr val="FFFFFF"/>
          </a:solidFill>
          <a:ln w="12700">
            <a:solidFill>
              <a:srgbClr val="E0E6F0"/>
            </a:solidFill>
            <a:prstDash val="solid"/>
          </a:ln>
        </p:spPr>
        <p:txBody>
          <a:bodyPr/>
          <a:lstStyle/>
          <a:p>
            <a:endParaRPr lang="en-US"/>
          </a:p>
        </p:txBody>
      </p:sp>
      <p:sp>
        <p:nvSpPr>
          <p:cNvPr id="27" name="Text 25"/>
          <p:cNvSpPr txBox="1"/>
          <p:nvPr/>
        </p:nvSpPr>
        <p:spPr>
          <a:xfrm>
            <a:off x="7040880" y="2569464"/>
            <a:ext cx="1234440" cy="256032"/>
          </a:xfrm>
          <a:prstGeom prst="rect">
            <a:avLst/>
          </a:prstGeom>
          <a:noFill/>
          <a:ln/>
        </p:spPr>
        <p:txBody>
          <a:bodyPr wrap="square" rtlCol="0" anchor="ctr"/>
          <a:lstStyle/>
          <a:p>
            <a:pPr marL="0" indent="0">
              <a:lnSpc>
                <a:spcPct val="120000"/>
              </a:lnSpc>
              <a:buNone/>
            </a:pPr>
            <a:r>
              <a:rPr lang="en-US" sz="950" b="1" dirty="0">
                <a:solidFill>
                  <a:srgbClr val="1A6B3C"/>
                </a:solidFill>
              </a:rPr>
              <a:t>5/5 PASS</a:t>
            </a:r>
            <a:endParaRPr lang="en-US" sz="950" dirty="0"/>
          </a:p>
        </p:txBody>
      </p:sp>
      <p:sp>
        <p:nvSpPr>
          <p:cNvPr id="28" name="Shape 26"/>
          <p:cNvSpPr/>
          <p:nvPr/>
        </p:nvSpPr>
        <p:spPr>
          <a:xfrm>
            <a:off x="548640" y="2843784"/>
            <a:ext cx="2743200" cy="347472"/>
          </a:xfrm>
          <a:prstGeom prst="rect">
            <a:avLst/>
          </a:prstGeom>
          <a:solidFill>
            <a:srgbClr val="F4F6FB"/>
          </a:solidFill>
          <a:ln w="12700">
            <a:solidFill>
              <a:srgbClr val="E0E6F0"/>
            </a:solidFill>
            <a:prstDash val="solid"/>
          </a:ln>
        </p:spPr>
        <p:txBody>
          <a:bodyPr/>
          <a:lstStyle/>
          <a:p>
            <a:endParaRPr lang="en-US"/>
          </a:p>
        </p:txBody>
      </p:sp>
      <p:sp>
        <p:nvSpPr>
          <p:cNvPr id="29" name="Text 27"/>
          <p:cNvSpPr txBox="1"/>
          <p:nvPr/>
        </p:nvSpPr>
        <p:spPr>
          <a:xfrm>
            <a:off x="640080" y="2916936"/>
            <a:ext cx="2606040" cy="256032"/>
          </a:xfrm>
          <a:prstGeom prst="rect">
            <a:avLst/>
          </a:prstGeom>
          <a:noFill/>
          <a:ln/>
        </p:spPr>
        <p:txBody>
          <a:bodyPr wrap="square" rtlCol="0" anchor="ctr"/>
          <a:lstStyle/>
          <a:p>
            <a:pPr marL="0" indent="0">
              <a:lnSpc>
                <a:spcPct val="120000"/>
              </a:lnSpc>
              <a:buNone/>
            </a:pPr>
            <a:r>
              <a:rPr lang="en-US" sz="950" b="1" dirty="0">
                <a:solidFill>
                  <a:srgbClr val="1A2540"/>
                </a:solidFill>
              </a:rPr>
              <a:t>C4 · Flagging relevance</a:t>
            </a:r>
            <a:endParaRPr lang="en-US" sz="950" dirty="0"/>
          </a:p>
        </p:txBody>
      </p:sp>
      <p:sp>
        <p:nvSpPr>
          <p:cNvPr id="30" name="Shape 28"/>
          <p:cNvSpPr/>
          <p:nvPr/>
        </p:nvSpPr>
        <p:spPr>
          <a:xfrm>
            <a:off x="3291840" y="2843784"/>
            <a:ext cx="3657600" cy="347472"/>
          </a:xfrm>
          <a:prstGeom prst="rect">
            <a:avLst/>
          </a:prstGeom>
          <a:solidFill>
            <a:srgbClr val="F4F6FB"/>
          </a:solidFill>
          <a:ln w="12700">
            <a:solidFill>
              <a:srgbClr val="E0E6F0"/>
            </a:solidFill>
            <a:prstDash val="solid"/>
          </a:ln>
        </p:spPr>
        <p:txBody>
          <a:bodyPr/>
          <a:lstStyle/>
          <a:p>
            <a:endParaRPr lang="en-US"/>
          </a:p>
        </p:txBody>
      </p:sp>
      <p:sp>
        <p:nvSpPr>
          <p:cNvPr id="31" name="Text 29"/>
          <p:cNvSpPr txBox="1"/>
          <p:nvPr/>
        </p:nvSpPr>
        <p:spPr>
          <a:xfrm>
            <a:off x="3383280" y="2916936"/>
            <a:ext cx="3520440" cy="256032"/>
          </a:xfrm>
          <a:prstGeom prst="rect">
            <a:avLst/>
          </a:prstGeom>
          <a:noFill/>
          <a:ln/>
        </p:spPr>
        <p:txBody>
          <a:bodyPr wrap="square" rtlCol="0" anchor="ctr"/>
          <a:lstStyle/>
          <a:p>
            <a:pPr marL="0" indent="0">
              <a:lnSpc>
                <a:spcPct val="120000"/>
              </a:lnSpc>
              <a:buNone/>
            </a:pPr>
            <a:r>
              <a:rPr lang="en-US" sz="950" dirty="0">
                <a:solidFill>
                  <a:srgbClr val="3D4F6E"/>
                </a:solidFill>
              </a:rPr>
              <a:t>≥ 75% precision; zero high-risk clauses missed</a:t>
            </a:r>
            <a:endParaRPr lang="en-US" sz="950" dirty="0"/>
          </a:p>
        </p:txBody>
      </p:sp>
      <p:sp>
        <p:nvSpPr>
          <p:cNvPr id="32" name="Shape 30"/>
          <p:cNvSpPr/>
          <p:nvPr/>
        </p:nvSpPr>
        <p:spPr>
          <a:xfrm>
            <a:off x="6949440" y="2843784"/>
            <a:ext cx="1371600" cy="347472"/>
          </a:xfrm>
          <a:prstGeom prst="rect">
            <a:avLst/>
          </a:prstGeom>
          <a:solidFill>
            <a:srgbClr val="F4F6FB"/>
          </a:solidFill>
          <a:ln w="12700">
            <a:solidFill>
              <a:srgbClr val="E0E6F0"/>
            </a:solidFill>
            <a:prstDash val="solid"/>
          </a:ln>
        </p:spPr>
        <p:txBody>
          <a:bodyPr/>
          <a:lstStyle/>
          <a:p>
            <a:endParaRPr lang="en-US"/>
          </a:p>
        </p:txBody>
      </p:sp>
      <p:sp>
        <p:nvSpPr>
          <p:cNvPr id="33" name="Text 31"/>
          <p:cNvSpPr txBox="1"/>
          <p:nvPr/>
        </p:nvSpPr>
        <p:spPr>
          <a:xfrm>
            <a:off x="7040880" y="2916936"/>
            <a:ext cx="1234440" cy="256032"/>
          </a:xfrm>
          <a:prstGeom prst="rect">
            <a:avLst/>
          </a:prstGeom>
          <a:noFill/>
          <a:ln/>
        </p:spPr>
        <p:txBody>
          <a:bodyPr wrap="square" rtlCol="0" anchor="ctr"/>
          <a:lstStyle/>
          <a:p>
            <a:pPr marL="0" indent="0">
              <a:lnSpc>
                <a:spcPct val="120000"/>
              </a:lnSpc>
              <a:buNone/>
            </a:pPr>
            <a:r>
              <a:rPr lang="en-US" sz="950" b="1" dirty="0">
                <a:solidFill>
                  <a:srgbClr val="1A6B3C"/>
                </a:solidFill>
              </a:rPr>
              <a:t>5/5 PASS</a:t>
            </a:r>
            <a:endParaRPr lang="en-US" sz="950" dirty="0"/>
          </a:p>
        </p:txBody>
      </p:sp>
      <p:sp>
        <p:nvSpPr>
          <p:cNvPr id="34" name="Shape 32"/>
          <p:cNvSpPr/>
          <p:nvPr/>
        </p:nvSpPr>
        <p:spPr>
          <a:xfrm>
            <a:off x="548640" y="3191256"/>
            <a:ext cx="2743200" cy="347472"/>
          </a:xfrm>
          <a:prstGeom prst="rect">
            <a:avLst/>
          </a:prstGeom>
          <a:solidFill>
            <a:srgbClr val="FFFFFF"/>
          </a:solidFill>
          <a:ln w="12700">
            <a:solidFill>
              <a:srgbClr val="E0E6F0"/>
            </a:solidFill>
            <a:prstDash val="solid"/>
          </a:ln>
        </p:spPr>
        <p:txBody>
          <a:bodyPr/>
          <a:lstStyle/>
          <a:p>
            <a:endParaRPr lang="en-US"/>
          </a:p>
        </p:txBody>
      </p:sp>
      <p:sp>
        <p:nvSpPr>
          <p:cNvPr id="35" name="Text 33"/>
          <p:cNvSpPr txBox="1"/>
          <p:nvPr/>
        </p:nvSpPr>
        <p:spPr>
          <a:xfrm>
            <a:off x="640080" y="3264408"/>
            <a:ext cx="2606040" cy="256032"/>
          </a:xfrm>
          <a:prstGeom prst="rect">
            <a:avLst/>
          </a:prstGeom>
          <a:noFill/>
          <a:ln/>
        </p:spPr>
        <p:txBody>
          <a:bodyPr wrap="square" rtlCol="0" anchor="ctr"/>
          <a:lstStyle/>
          <a:p>
            <a:pPr marL="0" indent="0">
              <a:lnSpc>
                <a:spcPct val="120000"/>
              </a:lnSpc>
              <a:buNone/>
            </a:pPr>
            <a:r>
              <a:rPr lang="en-US" sz="950" b="1" dirty="0">
                <a:solidFill>
                  <a:srgbClr val="1A2540"/>
                </a:solidFill>
              </a:rPr>
              <a:t>C5 · Output usability</a:t>
            </a:r>
            <a:endParaRPr lang="en-US" sz="950" dirty="0"/>
          </a:p>
        </p:txBody>
      </p:sp>
      <p:sp>
        <p:nvSpPr>
          <p:cNvPr id="36" name="Shape 34"/>
          <p:cNvSpPr/>
          <p:nvPr/>
        </p:nvSpPr>
        <p:spPr>
          <a:xfrm>
            <a:off x="3291840" y="3191256"/>
            <a:ext cx="3657600" cy="347472"/>
          </a:xfrm>
          <a:prstGeom prst="rect">
            <a:avLst/>
          </a:prstGeom>
          <a:solidFill>
            <a:srgbClr val="FFFFFF"/>
          </a:solidFill>
          <a:ln w="12700">
            <a:solidFill>
              <a:srgbClr val="E0E6F0"/>
            </a:solidFill>
            <a:prstDash val="solid"/>
          </a:ln>
        </p:spPr>
        <p:txBody>
          <a:bodyPr/>
          <a:lstStyle/>
          <a:p>
            <a:endParaRPr lang="en-US"/>
          </a:p>
        </p:txBody>
      </p:sp>
      <p:sp>
        <p:nvSpPr>
          <p:cNvPr id="37" name="Text 35"/>
          <p:cNvSpPr txBox="1"/>
          <p:nvPr/>
        </p:nvSpPr>
        <p:spPr>
          <a:xfrm>
            <a:off x="3383280" y="3264408"/>
            <a:ext cx="3520440" cy="256032"/>
          </a:xfrm>
          <a:prstGeom prst="rect">
            <a:avLst/>
          </a:prstGeom>
          <a:noFill/>
          <a:ln/>
        </p:spPr>
        <p:txBody>
          <a:bodyPr wrap="square" rtlCol="0" anchor="ctr"/>
          <a:lstStyle/>
          <a:p>
            <a:pPr marL="0" indent="0">
              <a:lnSpc>
                <a:spcPct val="120000"/>
              </a:lnSpc>
              <a:buNone/>
            </a:pPr>
            <a:r>
              <a:rPr lang="en-US" sz="950" dirty="0">
                <a:solidFill>
                  <a:srgbClr val="3D4F6E"/>
                </a:solidFill>
              </a:rPr>
              <a:t>Source quotes present; disclaimer on every output</a:t>
            </a:r>
            <a:endParaRPr lang="en-US" sz="950" dirty="0"/>
          </a:p>
        </p:txBody>
      </p:sp>
      <p:sp>
        <p:nvSpPr>
          <p:cNvPr id="38" name="Shape 36"/>
          <p:cNvSpPr/>
          <p:nvPr/>
        </p:nvSpPr>
        <p:spPr>
          <a:xfrm>
            <a:off x="6949440" y="3191256"/>
            <a:ext cx="1371600" cy="347472"/>
          </a:xfrm>
          <a:prstGeom prst="rect">
            <a:avLst/>
          </a:prstGeom>
          <a:solidFill>
            <a:srgbClr val="FFFFFF"/>
          </a:solidFill>
          <a:ln w="12700">
            <a:solidFill>
              <a:srgbClr val="E0E6F0"/>
            </a:solidFill>
            <a:prstDash val="solid"/>
          </a:ln>
        </p:spPr>
        <p:txBody>
          <a:bodyPr/>
          <a:lstStyle/>
          <a:p>
            <a:endParaRPr lang="en-US"/>
          </a:p>
        </p:txBody>
      </p:sp>
      <p:sp>
        <p:nvSpPr>
          <p:cNvPr id="39" name="Text 37"/>
          <p:cNvSpPr txBox="1"/>
          <p:nvPr/>
        </p:nvSpPr>
        <p:spPr>
          <a:xfrm>
            <a:off x="7040880" y="3264408"/>
            <a:ext cx="1234440" cy="256032"/>
          </a:xfrm>
          <a:prstGeom prst="rect">
            <a:avLst/>
          </a:prstGeom>
          <a:noFill/>
          <a:ln/>
        </p:spPr>
        <p:txBody>
          <a:bodyPr wrap="square" rtlCol="0" anchor="ctr"/>
          <a:lstStyle/>
          <a:p>
            <a:pPr marL="0" indent="0">
              <a:lnSpc>
                <a:spcPct val="120000"/>
              </a:lnSpc>
              <a:buNone/>
            </a:pPr>
            <a:r>
              <a:rPr lang="en-US" sz="950" b="1" dirty="0">
                <a:solidFill>
                  <a:srgbClr val="1A6B3C"/>
                </a:solidFill>
              </a:rPr>
              <a:t>5/5 PASS</a:t>
            </a:r>
            <a:endParaRPr lang="en-US" sz="950" dirty="0"/>
          </a:p>
        </p:txBody>
      </p:sp>
      <p:sp>
        <p:nvSpPr>
          <p:cNvPr id="40" name="Text 38"/>
          <p:cNvSpPr txBox="1"/>
          <p:nvPr/>
        </p:nvSpPr>
        <p:spPr>
          <a:xfrm>
            <a:off x="548640" y="4224528"/>
            <a:ext cx="7863840" cy="411480"/>
          </a:xfrm>
          <a:prstGeom prst="rect">
            <a:avLst/>
          </a:prstGeom>
          <a:noFill/>
          <a:ln/>
        </p:spPr>
        <p:txBody>
          <a:bodyPr wrap="square" rtlCol="0" anchor="ctr"/>
          <a:lstStyle/>
          <a:p>
            <a:pPr marL="0" indent="0">
              <a:lnSpc>
                <a:spcPct val="140000"/>
              </a:lnSpc>
              <a:buNone/>
            </a:pPr>
            <a:r>
              <a:rPr lang="en-US" sz="1000" dirty="0">
                <a:solidFill>
                  <a:srgbClr val="3D4F6E"/>
                </a:solidFill>
              </a:rPr>
              <a:t>Gap to Round 2 LangSmith: accuracy at scale (50–100+ leases), scanned/OCR documents, latency under load, evaluator consistency, and regression tracking across prompt versions.</a:t>
            </a:r>
            <a:endParaRPr lang="en-US" sz="1000" dirty="0"/>
          </a:p>
        </p:txBody>
      </p:sp>
      <p:sp>
        <p:nvSpPr>
          <p:cNvPr id="41" name="Text 39"/>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07 · COST &amp; TIMELINE</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The investment pays back
</a:t>
            </a:r>
            <a:r>
              <a:rPr lang="en-US" sz="2000" i="1" dirty="0">
                <a:solidFill>
                  <a:srgbClr val="3D4F6E"/>
                </a:solidFill>
                <a:latin typeface="Georgia" pitchFamily="34" charset="0"/>
                <a:ea typeface="Georgia" pitchFamily="34" charset="-122"/>
                <a:cs typeface="Georgia" pitchFamily="34" charset="-120"/>
              </a:rPr>
              <a:t>within the first year.</a:t>
            </a:r>
            <a:endParaRPr lang="en-US" sz="2000" dirty="0"/>
          </a:p>
        </p:txBody>
      </p:sp>
      <p:sp>
        <p:nvSpPr>
          <p:cNvPr id="4" name="Shape 2"/>
          <p:cNvSpPr/>
          <p:nvPr/>
        </p:nvSpPr>
        <p:spPr>
          <a:xfrm>
            <a:off x="548640" y="1481328"/>
            <a:ext cx="2423160" cy="868680"/>
          </a:xfrm>
          <a:prstGeom prst="rect">
            <a:avLst/>
          </a:prstGeom>
          <a:solidFill>
            <a:srgbClr val="E8F0FD"/>
          </a:solidFill>
          <a:ln w="12700">
            <a:solidFill>
              <a:srgbClr val="E8F0FD"/>
            </a:solidFill>
            <a:prstDash val="solid"/>
          </a:ln>
        </p:spPr>
        <p:txBody>
          <a:bodyPr/>
          <a:lstStyle/>
          <a:p>
            <a:endParaRPr lang="en-US"/>
          </a:p>
        </p:txBody>
      </p:sp>
      <p:sp>
        <p:nvSpPr>
          <p:cNvPr id="5" name="Text 3"/>
          <p:cNvSpPr txBox="1"/>
          <p:nvPr/>
        </p:nvSpPr>
        <p:spPr>
          <a:xfrm>
            <a:off x="685800" y="1554480"/>
            <a:ext cx="2194560" cy="164592"/>
          </a:xfrm>
          <a:prstGeom prst="rect">
            <a:avLst/>
          </a:prstGeom>
          <a:noFill/>
          <a:ln/>
        </p:spPr>
        <p:txBody>
          <a:bodyPr wrap="square" rtlCol="0" anchor="ctr"/>
          <a:lstStyle/>
          <a:p>
            <a:pPr marL="0" indent="0">
              <a:buNone/>
            </a:pPr>
            <a:r>
              <a:rPr lang="en-US" sz="800" b="1" kern="0" spc="80" dirty="0">
                <a:solidFill>
                  <a:srgbClr val="8A9AB8"/>
                </a:solidFill>
              </a:rPr>
              <a:t>PHASE 1</a:t>
            </a:r>
            <a:endParaRPr lang="en-US" sz="800" dirty="0"/>
          </a:p>
        </p:txBody>
      </p:sp>
      <p:sp>
        <p:nvSpPr>
          <p:cNvPr id="6" name="Text 4"/>
          <p:cNvSpPr txBox="1"/>
          <p:nvPr/>
        </p:nvSpPr>
        <p:spPr>
          <a:xfrm>
            <a:off x="685800" y="1737360"/>
            <a:ext cx="2194560" cy="201168"/>
          </a:xfrm>
          <a:prstGeom prst="rect">
            <a:avLst/>
          </a:prstGeom>
          <a:noFill/>
          <a:ln/>
        </p:spPr>
        <p:txBody>
          <a:bodyPr wrap="square" rtlCol="0" anchor="ctr"/>
          <a:lstStyle/>
          <a:p>
            <a:pPr marL="0" indent="0">
              <a:buNone/>
            </a:pPr>
            <a:r>
              <a:rPr lang="en-US" sz="1100" b="1" dirty="0">
                <a:solidFill>
                  <a:srgbClr val="1A2540"/>
                </a:solidFill>
              </a:rPr>
              <a:t>POC</a:t>
            </a:r>
            <a:endParaRPr lang="en-US" sz="1100" dirty="0"/>
          </a:p>
        </p:txBody>
      </p:sp>
      <p:sp>
        <p:nvSpPr>
          <p:cNvPr id="7" name="Text 5"/>
          <p:cNvSpPr txBox="1"/>
          <p:nvPr/>
        </p:nvSpPr>
        <p:spPr>
          <a:xfrm>
            <a:off x="685800" y="1956816"/>
            <a:ext cx="2194560" cy="182880"/>
          </a:xfrm>
          <a:prstGeom prst="rect">
            <a:avLst/>
          </a:prstGeom>
          <a:noFill/>
          <a:ln/>
        </p:spPr>
        <p:txBody>
          <a:bodyPr wrap="square" rtlCol="0" anchor="ctr"/>
          <a:lstStyle/>
          <a:p>
            <a:pPr marL="0" indent="0">
              <a:buNone/>
            </a:pPr>
            <a:r>
              <a:rPr lang="en-US" sz="950" dirty="0">
                <a:solidFill>
                  <a:srgbClr val="3D4F6E"/>
                </a:solidFill>
              </a:rPr>
              <a:t>3–4 weeks  ·  €8k–€15k</a:t>
            </a:r>
            <a:endParaRPr lang="en-US" sz="950" dirty="0"/>
          </a:p>
        </p:txBody>
      </p:sp>
      <p:sp>
        <p:nvSpPr>
          <p:cNvPr id="8" name="Shape 6"/>
          <p:cNvSpPr/>
          <p:nvPr/>
        </p:nvSpPr>
        <p:spPr>
          <a:xfrm>
            <a:off x="3154680" y="1481328"/>
            <a:ext cx="2423160" cy="868680"/>
          </a:xfrm>
          <a:prstGeom prst="rect">
            <a:avLst/>
          </a:prstGeom>
          <a:solidFill>
            <a:srgbClr val="E8F5EE"/>
          </a:solidFill>
          <a:ln w="12700">
            <a:solidFill>
              <a:srgbClr val="E8F5EE"/>
            </a:solidFill>
            <a:prstDash val="solid"/>
          </a:ln>
        </p:spPr>
        <p:txBody>
          <a:bodyPr/>
          <a:lstStyle/>
          <a:p>
            <a:endParaRPr lang="en-US"/>
          </a:p>
        </p:txBody>
      </p:sp>
      <p:sp>
        <p:nvSpPr>
          <p:cNvPr id="9" name="Text 7"/>
          <p:cNvSpPr txBox="1"/>
          <p:nvPr/>
        </p:nvSpPr>
        <p:spPr>
          <a:xfrm>
            <a:off x="3291840" y="1554480"/>
            <a:ext cx="2194560" cy="164592"/>
          </a:xfrm>
          <a:prstGeom prst="rect">
            <a:avLst/>
          </a:prstGeom>
          <a:noFill/>
          <a:ln/>
        </p:spPr>
        <p:txBody>
          <a:bodyPr wrap="square" rtlCol="0" anchor="ctr"/>
          <a:lstStyle/>
          <a:p>
            <a:pPr marL="0" indent="0">
              <a:buNone/>
            </a:pPr>
            <a:r>
              <a:rPr lang="en-US" sz="800" b="1" kern="0" spc="80" dirty="0">
                <a:solidFill>
                  <a:srgbClr val="8A9AB8"/>
                </a:solidFill>
              </a:rPr>
              <a:t>PHASE 2</a:t>
            </a:r>
            <a:endParaRPr lang="en-US" sz="800" dirty="0"/>
          </a:p>
        </p:txBody>
      </p:sp>
      <p:sp>
        <p:nvSpPr>
          <p:cNvPr id="10" name="Text 8"/>
          <p:cNvSpPr txBox="1"/>
          <p:nvPr/>
        </p:nvSpPr>
        <p:spPr>
          <a:xfrm>
            <a:off x="3291840" y="1737360"/>
            <a:ext cx="2194560" cy="201168"/>
          </a:xfrm>
          <a:prstGeom prst="rect">
            <a:avLst/>
          </a:prstGeom>
          <a:noFill/>
          <a:ln/>
        </p:spPr>
        <p:txBody>
          <a:bodyPr wrap="square" rtlCol="0" anchor="ctr"/>
          <a:lstStyle/>
          <a:p>
            <a:pPr marL="0" indent="0">
              <a:buNone/>
            </a:pPr>
            <a:r>
              <a:rPr lang="en-US" sz="1100" b="1" dirty="0">
                <a:solidFill>
                  <a:srgbClr val="1A2540"/>
                </a:solidFill>
              </a:rPr>
              <a:t>Pilot</a:t>
            </a:r>
            <a:endParaRPr lang="en-US" sz="1100" dirty="0"/>
          </a:p>
        </p:txBody>
      </p:sp>
      <p:sp>
        <p:nvSpPr>
          <p:cNvPr id="11" name="Text 9"/>
          <p:cNvSpPr txBox="1"/>
          <p:nvPr/>
        </p:nvSpPr>
        <p:spPr>
          <a:xfrm>
            <a:off x="3291840" y="1956816"/>
            <a:ext cx="2194560" cy="182880"/>
          </a:xfrm>
          <a:prstGeom prst="rect">
            <a:avLst/>
          </a:prstGeom>
          <a:noFill/>
          <a:ln/>
        </p:spPr>
        <p:txBody>
          <a:bodyPr wrap="square" rtlCol="0" anchor="ctr"/>
          <a:lstStyle/>
          <a:p>
            <a:pPr marL="0" indent="0">
              <a:buNone/>
            </a:pPr>
            <a:r>
              <a:rPr lang="en-US" sz="950" dirty="0">
                <a:solidFill>
                  <a:srgbClr val="3D4F6E"/>
                </a:solidFill>
              </a:rPr>
              <a:t>8–10 weeks  ·  €20k–€30k</a:t>
            </a:r>
            <a:endParaRPr lang="en-US" sz="950" dirty="0"/>
          </a:p>
        </p:txBody>
      </p:sp>
      <p:sp>
        <p:nvSpPr>
          <p:cNvPr id="12" name="Shape 10"/>
          <p:cNvSpPr/>
          <p:nvPr/>
        </p:nvSpPr>
        <p:spPr>
          <a:xfrm>
            <a:off x="5760720" y="1481328"/>
            <a:ext cx="2423160" cy="868680"/>
          </a:xfrm>
          <a:prstGeom prst="rect">
            <a:avLst/>
          </a:prstGeom>
          <a:solidFill>
            <a:srgbClr val="FEF3E0"/>
          </a:solidFill>
          <a:ln w="12700">
            <a:solidFill>
              <a:srgbClr val="FEF3E0"/>
            </a:solidFill>
            <a:prstDash val="solid"/>
          </a:ln>
        </p:spPr>
        <p:txBody>
          <a:bodyPr/>
          <a:lstStyle/>
          <a:p>
            <a:endParaRPr lang="en-US"/>
          </a:p>
        </p:txBody>
      </p:sp>
      <p:sp>
        <p:nvSpPr>
          <p:cNvPr id="13" name="Text 11"/>
          <p:cNvSpPr txBox="1"/>
          <p:nvPr/>
        </p:nvSpPr>
        <p:spPr>
          <a:xfrm>
            <a:off x="5897880" y="1554480"/>
            <a:ext cx="2194560" cy="164592"/>
          </a:xfrm>
          <a:prstGeom prst="rect">
            <a:avLst/>
          </a:prstGeom>
          <a:noFill/>
          <a:ln/>
        </p:spPr>
        <p:txBody>
          <a:bodyPr wrap="square" rtlCol="0" anchor="ctr"/>
          <a:lstStyle/>
          <a:p>
            <a:pPr marL="0" indent="0">
              <a:buNone/>
            </a:pPr>
            <a:r>
              <a:rPr lang="en-US" sz="800" b="1" kern="0" spc="80" dirty="0">
                <a:solidFill>
                  <a:srgbClr val="8A9AB8"/>
                </a:solidFill>
              </a:rPr>
              <a:t>PHASE 3</a:t>
            </a:r>
            <a:endParaRPr lang="en-US" sz="800" dirty="0"/>
          </a:p>
        </p:txBody>
      </p:sp>
      <p:sp>
        <p:nvSpPr>
          <p:cNvPr id="14" name="Text 12"/>
          <p:cNvSpPr txBox="1"/>
          <p:nvPr/>
        </p:nvSpPr>
        <p:spPr>
          <a:xfrm>
            <a:off x="5897880" y="1737360"/>
            <a:ext cx="2194560" cy="201168"/>
          </a:xfrm>
          <a:prstGeom prst="rect">
            <a:avLst/>
          </a:prstGeom>
          <a:noFill/>
          <a:ln/>
        </p:spPr>
        <p:txBody>
          <a:bodyPr wrap="square" rtlCol="0" anchor="ctr"/>
          <a:lstStyle/>
          <a:p>
            <a:pPr marL="0" indent="0">
              <a:buNone/>
            </a:pPr>
            <a:r>
              <a:rPr lang="en-US" sz="1100" b="1" dirty="0">
                <a:solidFill>
                  <a:srgbClr val="1A2540"/>
                </a:solidFill>
              </a:rPr>
              <a:t>Full deployment</a:t>
            </a:r>
            <a:endParaRPr lang="en-US" sz="1100" dirty="0"/>
          </a:p>
        </p:txBody>
      </p:sp>
      <p:sp>
        <p:nvSpPr>
          <p:cNvPr id="15" name="Text 13"/>
          <p:cNvSpPr txBox="1"/>
          <p:nvPr/>
        </p:nvSpPr>
        <p:spPr>
          <a:xfrm>
            <a:off x="5897880" y="1956816"/>
            <a:ext cx="2194560" cy="182880"/>
          </a:xfrm>
          <a:prstGeom prst="rect">
            <a:avLst/>
          </a:prstGeom>
          <a:noFill/>
          <a:ln/>
        </p:spPr>
        <p:txBody>
          <a:bodyPr wrap="square" rtlCol="0" anchor="ctr"/>
          <a:lstStyle/>
          <a:p>
            <a:pPr marL="0" indent="0">
              <a:buNone/>
            </a:pPr>
            <a:r>
              <a:rPr lang="en-US" sz="950" dirty="0">
                <a:solidFill>
                  <a:srgbClr val="3D4F6E"/>
                </a:solidFill>
              </a:rPr>
              <a:t>8–12 weeks  ·  €15k–€25k</a:t>
            </a:r>
            <a:endParaRPr lang="en-US" sz="950" dirty="0"/>
          </a:p>
        </p:txBody>
      </p:sp>
      <p:sp>
        <p:nvSpPr>
          <p:cNvPr id="16" name="Shape 14"/>
          <p:cNvSpPr/>
          <p:nvPr/>
        </p:nvSpPr>
        <p:spPr>
          <a:xfrm>
            <a:off x="548640" y="2578608"/>
            <a:ext cx="7680960" cy="320040"/>
          </a:xfrm>
          <a:prstGeom prst="rect">
            <a:avLst/>
          </a:prstGeom>
          <a:solidFill>
            <a:srgbClr val="FFFFFF"/>
          </a:solidFill>
          <a:ln w="12700">
            <a:solidFill>
              <a:srgbClr val="E0E6F0"/>
            </a:solidFill>
            <a:prstDash val="solid"/>
          </a:ln>
        </p:spPr>
        <p:txBody>
          <a:bodyPr/>
          <a:lstStyle/>
          <a:p>
            <a:endParaRPr lang="en-US"/>
          </a:p>
        </p:txBody>
      </p:sp>
      <p:sp>
        <p:nvSpPr>
          <p:cNvPr id="17" name="Text 15"/>
          <p:cNvSpPr txBox="1"/>
          <p:nvPr/>
        </p:nvSpPr>
        <p:spPr>
          <a:xfrm>
            <a:off x="685800" y="2651760"/>
            <a:ext cx="5029200" cy="201168"/>
          </a:xfrm>
          <a:prstGeom prst="rect">
            <a:avLst/>
          </a:prstGeom>
          <a:noFill/>
          <a:ln/>
        </p:spPr>
        <p:txBody>
          <a:bodyPr wrap="square" rtlCol="0" anchor="ctr"/>
          <a:lstStyle/>
          <a:p>
            <a:pPr marL="0" indent="0">
              <a:buNone/>
            </a:pPr>
            <a:r>
              <a:rPr lang="en-US" sz="1050" dirty="0">
                <a:solidFill>
                  <a:srgbClr val="1A2540"/>
                </a:solidFill>
              </a:rPr>
              <a:t>Total build cost</a:t>
            </a:r>
            <a:endParaRPr lang="en-US" sz="1050" dirty="0"/>
          </a:p>
        </p:txBody>
      </p:sp>
      <p:sp>
        <p:nvSpPr>
          <p:cNvPr id="18" name="Text 16"/>
          <p:cNvSpPr txBox="1"/>
          <p:nvPr/>
        </p:nvSpPr>
        <p:spPr>
          <a:xfrm>
            <a:off x="5943600" y="2651760"/>
            <a:ext cx="2103120" cy="201168"/>
          </a:xfrm>
          <a:prstGeom prst="rect">
            <a:avLst/>
          </a:prstGeom>
          <a:noFill/>
          <a:ln/>
        </p:spPr>
        <p:txBody>
          <a:bodyPr wrap="square" rtlCol="0" anchor="ctr"/>
          <a:lstStyle/>
          <a:p>
            <a:pPr marL="0" indent="0" algn="r">
              <a:buNone/>
            </a:pPr>
            <a:r>
              <a:rPr lang="en-US" sz="1050" dirty="0">
                <a:solidFill>
                  <a:srgbClr val="3D4F6E"/>
                </a:solidFill>
              </a:rPr>
              <a:t>€43k–€70k</a:t>
            </a:r>
            <a:endParaRPr lang="en-US" sz="1050" dirty="0"/>
          </a:p>
        </p:txBody>
      </p:sp>
      <p:sp>
        <p:nvSpPr>
          <p:cNvPr id="19" name="Shape 17"/>
          <p:cNvSpPr/>
          <p:nvPr/>
        </p:nvSpPr>
        <p:spPr>
          <a:xfrm>
            <a:off x="548640" y="2926080"/>
            <a:ext cx="7680960" cy="320040"/>
          </a:xfrm>
          <a:prstGeom prst="rect">
            <a:avLst/>
          </a:prstGeom>
          <a:solidFill>
            <a:srgbClr val="F4F6FB"/>
          </a:solidFill>
          <a:ln w="12700">
            <a:solidFill>
              <a:srgbClr val="E0E6F0"/>
            </a:solidFill>
            <a:prstDash val="solid"/>
          </a:ln>
        </p:spPr>
        <p:txBody>
          <a:bodyPr/>
          <a:lstStyle/>
          <a:p>
            <a:endParaRPr lang="en-US"/>
          </a:p>
        </p:txBody>
      </p:sp>
      <p:sp>
        <p:nvSpPr>
          <p:cNvPr id="20" name="Text 18"/>
          <p:cNvSpPr txBox="1"/>
          <p:nvPr/>
        </p:nvSpPr>
        <p:spPr>
          <a:xfrm>
            <a:off x="685800" y="2999232"/>
            <a:ext cx="5029200" cy="201168"/>
          </a:xfrm>
          <a:prstGeom prst="rect">
            <a:avLst/>
          </a:prstGeom>
          <a:noFill/>
          <a:ln/>
        </p:spPr>
        <p:txBody>
          <a:bodyPr wrap="square" rtlCol="0" anchor="ctr"/>
          <a:lstStyle/>
          <a:p>
            <a:pPr marL="0" indent="0">
              <a:buNone/>
            </a:pPr>
            <a:r>
              <a:rPr lang="en-US" sz="1050" dirty="0">
                <a:solidFill>
                  <a:srgbClr val="1A2540"/>
                </a:solidFill>
              </a:rPr>
              <a:t>Annual run cost</a:t>
            </a:r>
            <a:endParaRPr lang="en-US" sz="1050" dirty="0"/>
          </a:p>
        </p:txBody>
      </p:sp>
      <p:sp>
        <p:nvSpPr>
          <p:cNvPr id="21" name="Text 19"/>
          <p:cNvSpPr txBox="1"/>
          <p:nvPr/>
        </p:nvSpPr>
        <p:spPr>
          <a:xfrm>
            <a:off x="5943600" y="2999232"/>
            <a:ext cx="2103120" cy="201168"/>
          </a:xfrm>
          <a:prstGeom prst="rect">
            <a:avLst/>
          </a:prstGeom>
          <a:noFill/>
          <a:ln/>
        </p:spPr>
        <p:txBody>
          <a:bodyPr wrap="square" rtlCol="0" anchor="ctr"/>
          <a:lstStyle/>
          <a:p>
            <a:pPr marL="0" indent="0" algn="r">
              <a:buNone/>
            </a:pPr>
            <a:r>
              <a:rPr lang="en-US" sz="1050" dirty="0">
                <a:solidFill>
                  <a:srgbClr val="3D4F6E"/>
                </a:solidFill>
              </a:rPr>
              <a:t>€9k–€19k/yr</a:t>
            </a:r>
            <a:endParaRPr lang="en-US" sz="1050" dirty="0"/>
          </a:p>
        </p:txBody>
      </p:sp>
      <p:sp>
        <p:nvSpPr>
          <p:cNvPr id="22" name="Shape 20"/>
          <p:cNvSpPr/>
          <p:nvPr/>
        </p:nvSpPr>
        <p:spPr>
          <a:xfrm>
            <a:off x="548640" y="3273552"/>
            <a:ext cx="7680960" cy="320040"/>
          </a:xfrm>
          <a:prstGeom prst="rect">
            <a:avLst/>
          </a:prstGeom>
          <a:solidFill>
            <a:srgbClr val="FFFFFF"/>
          </a:solidFill>
          <a:ln w="12700">
            <a:solidFill>
              <a:srgbClr val="E0E6F0"/>
            </a:solidFill>
            <a:prstDash val="solid"/>
          </a:ln>
        </p:spPr>
        <p:txBody>
          <a:bodyPr/>
          <a:lstStyle/>
          <a:p>
            <a:endParaRPr lang="en-US"/>
          </a:p>
        </p:txBody>
      </p:sp>
      <p:sp>
        <p:nvSpPr>
          <p:cNvPr id="23" name="Text 21"/>
          <p:cNvSpPr txBox="1"/>
          <p:nvPr/>
        </p:nvSpPr>
        <p:spPr>
          <a:xfrm>
            <a:off x="685800" y="3346704"/>
            <a:ext cx="5029200" cy="201168"/>
          </a:xfrm>
          <a:prstGeom prst="rect">
            <a:avLst/>
          </a:prstGeom>
          <a:noFill/>
          <a:ln/>
        </p:spPr>
        <p:txBody>
          <a:bodyPr wrap="square" rtlCol="0" anchor="ctr"/>
          <a:lstStyle/>
          <a:p>
            <a:pPr marL="0" indent="0">
              <a:buNone/>
            </a:pPr>
            <a:r>
              <a:rPr lang="en-US" sz="1050" dirty="0">
                <a:solidFill>
                  <a:srgbClr val="1A2540"/>
                </a:solidFill>
              </a:rPr>
              <a:t>Annual saving (abstraction)</a:t>
            </a:r>
            <a:endParaRPr lang="en-US" sz="1050" dirty="0"/>
          </a:p>
        </p:txBody>
      </p:sp>
      <p:sp>
        <p:nvSpPr>
          <p:cNvPr id="24" name="Text 22"/>
          <p:cNvSpPr txBox="1"/>
          <p:nvPr/>
        </p:nvSpPr>
        <p:spPr>
          <a:xfrm>
            <a:off x="5943600" y="3346704"/>
            <a:ext cx="2103120" cy="201168"/>
          </a:xfrm>
          <a:prstGeom prst="rect">
            <a:avLst/>
          </a:prstGeom>
          <a:noFill/>
          <a:ln/>
        </p:spPr>
        <p:txBody>
          <a:bodyPr wrap="square" rtlCol="0" anchor="ctr"/>
          <a:lstStyle/>
          <a:p>
            <a:pPr marL="0" indent="0" algn="r">
              <a:buNone/>
            </a:pPr>
            <a:r>
              <a:rPr lang="en-US" sz="1050" dirty="0">
                <a:solidFill>
                  <a:srgbClr val="3D4F6E"/>
                </a:solidFill>
              </a:rPr>
              <a:t>€128k–€192k/yr</a:t>
            </a:r>
            <a:endParaRPr lang="en-US" sz="1050" dirty="0"/>
          </a:p>
        </p:txBody>
      </p:sp>
      <p:sp>
        <p:nvSpPr>
          <p:cNvPr id="25" name="Shape 23"/>
          <p:cNvSpPr/>
          <p:nvPr/>
        </p:nvSpPr>
        <p:spPr>
          <a:xfrm>
            <a:off x="548640" y="3621024"/>
            <a:ext cx="7680960" cy="365760"/>
          </a:xfrm>
          <a:prstGeom prst="rect">
            <a:avLst/>
          </a:prstGeom>
          <a:solidFill>
            <a:srgbClr val="0F1F3D"/>
          </a:solidFill>
          <a:ln w="12700">
            <a:solidFill>
              <a:srgbClr val="0F1F3D"/>
            </a:solidFill>
            <a:prstDash val="solid"/>
          </a:ln>
        </p:spPr>
        <p:txBody>
          <a:bodyPr/>
          <a:lstStyle/>
          <a:p>
            <a:endParaRPr lang="en-US"/>
          </a:p>
        </p:txBody>
      </p:sp>
      <p:sp>
        <p:nvSpPr>
          <p:cNvPr id="26" name="Text 24"/>
          <p:cNvSpPr txBox="1"/>
          <p:nvPr/>
        </p:nvSpPr>
        <p:spPr>
          <a:xfrm>
            <a:off x="685800" y="3694176"/>
            <a:ext cx="5029200" cy="219456"/>
          </a:xfrm>
          <a:prstGeom prst="rect">
            <a:avLst/>
          </a:prstGeom>
          <a:noFill/>
          <a:ln/>
        </p:spPr>
        <p:txBody>
          <a:bodyPr wrap="square" rtlCol="0" anchor="ctr"/>
          <a:lstStyle/>
          <a:p>
            <a:pPr marL="0" indent="0">
              <a:buNone/>
            </a:pPr>
            <a:r>
              <a:rPr lang="en-US" sz="1100" b="1" dirty="0">
                <a:solidFill>
                  <a:srgbClr val="FFFFFF"/>
                </a:solidFill>
              </a:rPr>
              <a:t>Payback period</a:t>
            </a:r>
            <a:endParaRPr lang="en-US" sz="1100" dirty="0"/>
          </a:p>
        </p:txBody>
      </p:sp>
      <p:sp>
        <p:nvSpPr>
          <p:cNvPr id="27" name="Text 25"/>
          <p:cNvSpPr txBox="1"/>
          <p:nvPr/>
        </p:nvSpPr>
        <p:spPr>
          <a:xfrm>
            <a:off x="5943600" y="3694176"/>
            <a:ext cx="2103120" cy="219456"/>
          </a:xfrm>
          <a:prstGeom prst="rect">
            <a:avLst/>
          </a:prstGeom>
          <a:noFill/>
          <a:ln/>
        </p:spPr>
        <p:txBody>
          <a:bodyPr wrap="square" rtlCol="0" anchor="ctr"/>
          <a:lstStyle/>
          <a:p>
            <a:pPr marL="0" indent="0" algn="r">
              <a:buNone/>
            </a:pPr>
            <a:r>
              <a:rPr lang="en-US" sz="1100" b="1" dirty="0">
                <a:solidFill>
                  <a:srgbClr val="C8A84B"/>
                </a:solidFill>
              </a:rPr>
              <a:t>3–7 months</a:t>
            </a:r>
            <a:endParaRPr lang="en-US" sz="1100" dirty="0"/>
          </a:p>
        </p:txBody>
      </p:sp>
      <p:sp>
        <p:nvSpPr>
          <p:cNvPr id="28" name="Text 26"/>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08 · KEY RISKS</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The risks are real.
</a:t>
            </a:r>
            <a:r>
              <a:rPr lang="en-US" sz="2000" i="1" dirty="0">
                <a:solidFill>
                  <a:srgbClr val="3D4F6E"/>
                </a:solidFill>
                <a:latin typeface="Georgia" pitchFamily="34" charset="0"/>
                <a:ea typeface="Georgia" pitchFamily="34" charset="-122"/>
                <a:cs typeface="Georgia" pitchFamily="34" charset="-120"/>
              </a:rPr>
              <a:t>Each one is manageable by design.</a:t>
            </a:r>
            <a:endParaRPr lang="en-US" sz="2000" dirty="0"/>
          </a:p>
        </p:txBody>
      </p:sp>
      <p:sp>
        <p:nvSpPr>
          <p:cNvPr id="4" name="Shape 2"/>
          <p:cNvSpPr/>
          <p:nvPr/>
        </p:nvSpPr>
        <p:spPr>
          <a:xfrm>
            <a:off x="548640" y="1463040"/>
            <a:ext cx="4069080" cy="932688"/>
          </a:xfrm>
          <a:prstGeom prst="rect">
            <a:avLst/>
          </a:prstGeom>
          <a:solidFill>
            <a:srgbClr val="E8ECF4"/>
          </a:solidFill>
          <a:ln w="12700">
            <a:solidFill>
              <a:srgbClr val="E8ECF4"/>
            </a:solidFill>
            <a:prstDash val="solid"/>
          </a:ln>
        </p:spPr>
        <p:txBody>
          <a:bodyPr/>
          <a:lstStyle/>
          <a:p>
            <a:endParaRPr lang="en-US"/>
          </a:p>
        </p:txBody>
      </p:sp>
      <p:sp>
        <p:nvSpPr>
          <p:cNvPr id="5" name="Shape 3"/>
          <p:cNvSpPr/>
          <p:nvPr/>
        </p:nvSpPr>
        <p:spPr>
          <a:xfrm>
            <a:off x="548640" y="1463040"/>
            <a:ext cx="54864" cy="932688"/>
          </a:xfrm>
          <a:prstGeom prst="rect">
            <a:avLst/>
          </a:prstGeom>
          <a:solidFill>
            <a:srgbClr val="C0392B"/>
          </a:solidFill>
          <a:ln w="12700">
            <a:solidFill>
              <a:srgbClr val="C0392B"/>
            </a:solidFill>
            <a:prstDash val="solid"/>
          </a:ln>
        </p:spPr>
        <p:txBody>
          <a:bodyPr/>
          <a:lstStyle/>
          <a:p>
            <a:endParaRPr lang="en-US"/>
          </a:p>
        </p:txBody>
      </p:sp>
      <p:sp>
        <p:nvSpPr>
          <p:cNvPr id="6" name="Text 4"/>
          <p:cNvSpPr txBox="1"/>
          <p:nvPr/>
        </p:nvSpPr>
        <p:spPr>
          <a:xfrm>
            <a:off x="685800" y="1581912"/>
            <a:ext cx="3840480" cy="182880"/>
          </a:xfrm>
          <a:prstGeom prst="rect">
            <a:avLst/>
          </a:prstGeom>
          <a:noFill/>
          <a:ln/>
        </p:spPr>
        <p:txBody>
          <a:bodyPr wrap="square" rtlCol="0" anchor="ctr"/>
          <a:lstStyle/>
          <a:p>
            <a:pPr marL="0" indent="0">
              <a:buNone/>
            </a:pPr>
            <a:r>
              <a:rPr lang="en-US" sz="800" b="1" kern="0" spc="80" dirty="0">
                <a:solidFill>
                  <a:srgbClr val="C0392B"/>
                </a:solidFill>
              </a:rPr>
              <a:t>HIGH · TECHNICAL</a:t>
            </a:r>
            <a:endParaRPr lang="en-US" sz="800" dirty="0"/>
          </a:p>
        </p:txBody>
      </p:sp>
      <p:sp>
        <p:nvSpPr>
          <p:cNvPr id="7" name="Text 5"/>
          <p:cNvSpPr txBox="1"/>
          <p:nvPr/>
        </p:nvSpPr>
        <p:spPr>
          <a:xfrm>
            <a:off x="685800" y="1783080"/>
            <a:ext cx="3840480" cy="201168"/>
          </a:xfrm>
          <a:prstGeom prst="rect">
            <a:avLst/>
          </a:prstGeom>
          <a:noFill/>
          <a:ln/>
        </p:spPr>
        <p:txBody>
          <a:bodyPr wrap="square" rtlCol="0" anchor="ctr"/>
          <a:lstStyle/>
          <a:p>
            <a:pPr marL="0" indent="0">
              <a:buNone/>
            </a:pPr>
            <a:r>
              <a:rPr lang="en-US" sz="1050" b="1" dirty="0">
                <a:solidFill>
                  <a:srgbClr val="1A2540"/>
                </a:solidFill>
              </a:rPr>
              <a:t>AI hallucination on legal text</a:t>
            </a:r>
            <a:endParaRPr lang="en-US" sz="1050" dirty="0"/>
          </a:p>
        </p:txBody>
      </p:sp>
      <p:sp>
        <p:nvSpPr>
          <p:cNvPr id="8" name="Text 6"/>
          <p:cNvSpPr txBox="1"/>
          <p:nvPr/>
        </p:nvSpPr>
        <p:spPr>
          <a:xfrm>
            <a:off x="685800" y="2002536"/>
            <a:ext cx="3840480" cy="301752"/>
          </a:xfrm>
          <a:prstGeom prst="rect">
            <a:avLst/>
          </a:prstGeom>
          <a:noFill/>
          <a:ln/>
        </p:spPr>
        <p:txBody>
          <a:bodyPr wrap="square" rtlCol="0" anchor="ctr"/>
          <a:lstStyle/>
          <a:p>
            <a:pPr marL="0" indent="0">
              <a:buNone/>
            </a:pPr>
            <a:r>
              <a:rPr lang="en-US" sz="950" dirty="0">
                <a:solidFill>
                  <a:srgbClr val="3D4F6E"/>
                </a:solidFill>
              </a:rPr>
              <a:t>LLMs can produce plausible but wrong values. Mitigation: human review mandatory; every field cites source text; low-confidence fields routed to human.</a:t>
            </a:r>
            <a:endParaRPr lang="en-US" sz="950" dirty="0"/>
          </a:p>
        </p:txBody>
      </p:sp>
      <p:sp>
        <p:nvSpPr>
          <p:cNvPr id="9" name="Shape 7"/>
          <p:cNvSpPr/>
          <p:nvPr/>
        </p:nvSpPr>
        <p:spPr>
          <a:xfrm>
            <a:off x="548640" y="2487168"/>
            <a:ext cx="4069080" cy="932688"/>
          </a:xfrm>
          <a:prstGeom prst="rect">
            <a:avLst/>
          </a:prstGeom>
          <a:solidFill>
            <a:srgbClr val="E8ECF4"/>
          </a:solidFill>
          <a:ln w="12700">
            <a:solidFill>
              <a:srgbClr val="E8ECF4"/>
            </a:solidFill>
            <a:prstDash val="solid"/>
          </a:ln>
        </p:spPr>
        <p:txBody>
          <a:bodyPr/>
          <a:lstStyle/>
          <a:p>
            <a:endParaRPr lang="en-US"/>
          </a:p>
        </p:txBody>
      </p:sp>
      <p:sp>
        <p:nvSpPr>
          <p:cNvPr id="10" name="Shape 8"/>
          <p:cNvSpPr/>
          <p:nvPr/>
        </p:nvSpPr>
        <p:spPr>
          <a:xfrm>
            <a:off x="548640" y="2487168"/>
            <a:ext cx="54864" cy="932688"/>
          </a:xfrm>
          <a:prstGeom prst="rect">
            <a:avLst/>
          </a:prstGeom>
          <a:solidFill>
            <a:srgbClr val="B45309"/>
          </a:solidFill>
          <a:ln w="12700">
            <a:solidFill>
              <a:srgbClr val="B45309"/>
            </a:solidFill>
            <a:prstDash val="solid"/>
          </a:ln>
        </p:spPr>
        <p:txBody>
          <a:bodyPr/>
          <a:lstStyle/>
          <a:p>
            <a:endParaRPr lang="en-US"/>
          </a:p>
        </p:txBody>
      </p:sp>
      <p:sp>
        <p:nvSpPr>
          <p:cNvPr id="11" name="Text 9"/>
          <p:cNvSpPr txBox="1"/>
          <p:nvPr/>
        </p:nvSpPr>
        <p:spPr>
          <a:xfrm>
            <a:off x="685800" y="2606040"/>
            <a:ext cx="3840480" cy="182880"/>
          </a:xfrm>
          <a:prstGeom prst="rect">
            <a:avLst/>
          </a:prstGeom>
          <a:noFill/>
          <a:ln/>
        </p:spPr>
        <p:txBody>
          <a:bodyPr wrap="square" rtlCol="0" anchor="ctr"/>
          <a:lstStyle/>
          <a:p>
            <a:pPr marL="0" indent="0">
              <a:buNone/>
            </a:pPr>
            <a:r>
              <a:rPr lang="en-US" sz="800" b="1" kern="0" spc="80" dirty="0">
                <a:solidFill>
                  <a:srgbClr val="B45309"/>
                </a:solidFill>
              </a:rPr>
              <a:t>MEDIUM · ORG</a:t>
            </a:r>
            <a:endParaRPr lang="en-US" sz="800" dirty="0"/>
          </a:p>
        </p:txBody>
      </p:sp>
      <p:sp>
        <p:nvSpPr>
          <p:cNvPr id="12" name="Text 10"/>
          <p:cNvSpPr txBox="1"/>
          <p:nvPr/>
        </p:nvSpPr>
        <p:spPr>
          <a:xfrm>
            <a:off x="685800" y="2807208"/>
            <a:ext cx="3840480" cy="201168"/>
          </a:xfrm>
          <a:prstGeom prst="rect">
            <a:avLst/>
          </a:prstGeom>
          <a:noFill/>
          <a:ln/>
        </p:spPr>
        <p:txBody>
          <a:bodyPr wrap="square" rtlCol="0" anchor="ctr"/>
          <a:lstStyle/>
          <a:p>
            <a:pPr marL="0" indent="0">
              <a:buNone/>
            </a:pPr>
            <a:r>
              <a:rPr lang="en-US" sz="1050" b="1" dirty="0">
                <a:solidFill>
                  <a:srgbClr val="1A2540"/>
                </a:solidFill>
              </a:rPr>
              <a:t>Lawyer adoption</a:t>
            </a:r>
            <a:endParaRPr lang="en-US" sz="1050" dirty="0"/>
          </a:p>
        </p:txBody>
      </p:sp>
      <p:sp>
        <p:nvSpPr>
          <p:cNvPr id="13" name="Text 11"/>
          <p:cNvSpPr txBox="1"/>
          <p:nvPr/>
        </p:nvSpPr>
        <p:spPr>
          <a:xfrm>
            <a:off x="685800" y="3026664"/>
            <a:ext cx="3840480" cy="301752"/>
          </a:xfrm>
          <a:prstGeom prst="rect">
            <a:avLst/>
          </a:prstGeom>
          <a:noFill/>
          <a:ln/>
        </p:spPr>
        <p:txBody>
          <a:bodyPr wrap="square" rtlCol="0" anchor="ctr"/>
          <a:lstStyle/>
          <a:p>
            <a:pPr marL="0" indent="0">
              <a:buNone/>
            </a:pPr>
            <a:r>
              <a:rPr lang="en-US" sz="950" dirty="0">
                <a:solidFill>
                  <a:srgbClr val="3D4F6E"/>
                </a:solidFill>
              </a:rPr>
              <a:t>If lawyers do not trust the output, they re-do the work manually. Mitigation: co-design output format with legal team; run pilot on a completed deal with known ground truth.</a:t>
            </a:r>
            <a:endParaRPr lang="en-US" sz="950" dirty="0"/>
          </a:p>
        </p:txBody>
      </p:sp>
      <p:sp>
        <p:nvSpPr>
          <p:cNvPr id="14" name="Shape 12"/>
          <p:cNvSpPr/>
          <p:nvPr/>
        </p:nvSpPr>
        <p:spPr>
          <a:xfrm>
            <a:off x="548640" y="3511296"/>
            <a:ext cx="4069080" cy="932688"/>
          </a:xfrm>
          <a:prstGeom prst="rect">
            <a:avLst/>
          </a:prstGeom>
          <a:solidFill>
            <a:srgbClr val="E8ECF4"/>
          </a:solidFill>
          <a:ln w="12700">
            <a:solidFill>
              <a:srgbClr val="E8ECF4"/>
            </a:solidFill>
            <a:prstDash val="solid"/>
          </a:ln>
        </p:spPr>
        <p:txBody>
          <a:bodyPr/>
          <a:lstStyle/>
          <a:p>
            <a:endParaRPr lang="en-US"/>
          </a:p>
        </p:txBody>
      </p:sp>
      <p:sp>
        <p:nvSpPr>
          <p:cNvPr id="15" name="Shape 13"/>
          <p:cNvSpPr/>
          <p:nvPr/>
        </p:nvSpPr>
        <p:spPr>
          <a:xfrm>
            <a:off x="548640" y="3511296"/>
            <a:ext cx="54864" cy="932688"/>
          </a:xfrm>
          <a:prstGeom prst="rect">
            <a:avLst/>
          </a:prstGeom>
          <a:solidFill>
            <a:srgbClr val="B45309"/>
          </a:solidFill>
          <a:ln w="12700">
            <a:solidFill>
              <a:srgbClr val="B45309"/>
            </a:solidFill>
            <a:prstDash val="solid"/>
          </a:ln>
        </p:spPr>
        <p:txBody>
          <a:bodyPr/>
          <a:lstStyle/>
          <a:p>
            <a:endParaRPr lang="en-US"/>
          </a:p>
        </p:txBody>
      </p:sp>
      <p:sp>
        <p:nvSpPr>
          <p:cNvPr id="16" name="Text 14"/>
          <p:cNvSpPr txBox="1"/>
          <p:nvPr/>
        </p:nvSpPr>
        <p:spPr>
          <a:xfrm>
            <a:off x="685800" y="3630168"/>
            <a:ext cx="3840480" cy="182880"/>
          </a:xfrm>
          <a:prstGeom prst="rect">
            <a:avLst/>
          </a:prstGeom>
          <a:noFill/>
          <a:ln/>
        </p:spPr>
        <p:txBody>
          <a:bodyPr wrap="square" rtlCol="0" anchor="ctr"/>
          <a:lstStyle/>
          <a:p>
            <a:pPr marL="0" indent="0">
              <a:buNone/>
            </a:pPr>
            <a:r>
              <a:rPr lang="en-US" sz="800" b="1" kern="0" spc="80" dirty="0">
                <a:solidFill>
                  <a:srgbClr val="B45309"/>
                </a:solidFill>
              </a:rPr>
              <a:t>MEDIUM · TECHNICAL</a:t>
            </a:r>
            <a:endParaRPr lang="en-US" sz="800" dirty="0"/>
          </a:p>
        </p:txBody>
      </p:sp>
      <p:sp>
        <p:nvSpPr>
          <p:cNvPr id="17" name="Text 15"/>
          <p:cNvSpPr txBox="1"/>
          <p:nvPr/>
        </p:nvSpPr>
        <p:spPr>
          <a:xfrm>
            <a:off x="685800" y="3831336"/>
            <a:ext cx="3840480" cy="201168"/>
          </a:xfrm>
          <a:prstGeom prst="rect">
            <a:avLst/>
          </a:prstGeom>
          <a:noFill/>
          <a:ln/>
        </p:spPr>
        <p:txBody>
          <a:bodyPr wrap="square" rtlCol="0" anchor="ctr"/>
          <a:lstStyle/>
          <a:p>
            <a:pPr marL="0" indent="0">
              <a:buNone/>
            </a:pPr>
            <a:r>
              <a:rPr lang="en-US" sz="1050" b="1" dirty="0">
                <a:solidFill>
                  <a:srgbClr val="1A2540"/>
                </a:solidFill>
              </a:rPr>
              <a:t>Document quality variability</a:t>
            </a:r>
            <a:endParaRPr lang="en-US" sz="1050" dirty="0"/>
          </a:p>
        </p:txBody>
      </p:sp>
      <p:sp>
        <p:nvSpPr>
          <p:cNvPr id="18" name="Text 16"/>
          <p:cNvSpPr txBox="1"/>
          <p:nvPr/>
        </p:nvSpPr>
        <p:spPr>
          <a:xfrm>
            <a:off x="685800" y="4050792"/>
            <a:ext cx="3840480" cy="301752"/>
          </a:xfrm>
          <a:prstGeom prst="rect">
            <a:avLst/>
          </a:prstGeom>
          <a:noFill/>
          <a:ln/>
        </p:spPr>
        <p:txBody>
          <a:bodyPr wrap="square" rtlCol="0" anchor="ctr"/>
          <a:lstStyle/>
          <a:p>
            <a:pPr marL="0" indent="0">
              <a:buNone/>
            </a:pPr>
            <a:r>
              <a:rPr lang="en-US" sz="950" dirty="0">
                <a:solidFill>
                  <a:srgbClr val="3D4F6E"/>
                </a:solidFill>
              </a:rPr>
              <a:t>Scanned leases and complex amendments degrade accuracy. Mitigation: start pilot with digitally-authored leases; extend to scanned in Phase 2.</a:t>
            </a:r>
            <a:endParaRPr lang="en-US" sz="950" dirty="0"/>
          </a:p>
        </p:txBody>
      </p:sp>
      <p:sp>
        <p:nvSpPr>
          <p:cNvPr id="19" name="Shape 17"/>
          <p:cNvSpPr/>
          <p:nvPr/>
        </p:nvSpPr>
        <p:spPr>
          <a:xfrm>
            <a:off x="4892040" y="1463040"/>
            <a:ext cx="4069080" cy="932688"/>
          </a:xfrm>
          <a:prstGeom prst="rect">
            <a:avLst/>
          </a:prstGeom>
          <a:solidFill>
            <a:srgbClr val="E8ECF4"/>
          </a:solidFill>
          <a:ln w="12700">
            <a:solidFill>
              <a:srgbClr val="E8ECF4"/>
            </a:solidFill>
            <a:prstDash val="solid"/>
          </a:ln>
        </p:spPr>
        <p:txBody>
          <a:bodyPr/>
          <a:lstStyle/>
          <a:p>
            <a:endParaRPr lang="en-US"/>
          </a:p>
        </p:txBody>
      </p:sp>
      <p:sp>
        <p:nvSpPr>
          <p:cNvPr id="20" name="Shape 18"/>
          <p:cNvSpPr/>
          <p:nvPr/>
        </p:nvSpPr>
        <p:spPr>
          <a:xfrm>
            <a:off x="4892040" y="1463040"/>
            <a:ext cx="54864" cy="932688"/>
          </a:xfrm>
          <a:prstGeom prst="rect">
            <a:avLst/>
          </a:prstGeom>
          <a:solidFill>
            <a:srgbClr val="1A6B3C"/>
          </a:solidFill>
          <a:ln w="12700">
            <a:solidFill>
              <a:srgbClr val="1A6B3C"/>
            </a:solidFill>
            <a:prstDash val="solid"/>
          </a:ln>
        </p:spPr>
        <p:txBody>
          <a:bodyPr/>
          <a:lstStyle/>
          <a:p>
            <a:endParaRPr lang="en-US"/>
          </a:p>
        </p:txBody>
      </p:sp>
      <p:sp>
        <p:nvSpPr>
          <p:cNvPr id="21" name="Text 19"/>
          <p:cNvSpPr txBox="1"/>
          <p:nvPr/>
        </p:nvSpPr>
        <p:spPr>
          <a:xfrm>
            <a:off x="5029200" y="1581912"/>
            <a:ext cx="3840480" cy="182880"/>
          </a:xfrm>
          <a:prstGeom prst="rect">
            <a:avLst/>
          </a:prstGeom>
          <a:noFill/>
          <a:ln/>
        </p:spPr>
        <p:txBody>
          <a:bodyPr wrap="square" rtlCol="0" anchor="ctr"/>
          <a:lstStyle/>
          <a:p>
            <a:pPr marL="0" indent="0">
              <a:buNone/>
            </a:pPr>
            <a:r>
              <a:rPr lang="en-US" sz="800" b="1" kern="0" spc="80" dirty="0">
                <a:solidFill>
                  <a:srgbClr val="1A6B3C"/>
                </a:solidFill>
              </a:rPr>
              <a:t>LOW–MED · REGULATORY</a:t>
            </a:r>
            <a:endParaRPr lang="en-US" sz="800" dirty="0"/>
          </a:p>
        </p:txBody>
      </p:sp>
      <p:sp>
        <p:nvSpPr>
          <p:cNvPr id="22" name="Text 20"/>
          <p:cNvSpPr txBox="1"/>
          <p:nvPr/>
        </p:nvSpPr>
        <p:spPr>
          <a:xfrm>
            <a:off x="5029200" y="1783080"/>
            <a:ext cx="3840480" cy="201168"/>
          </a:xfrm>
          <a:prstGeom prst="rect">
            <a:avLst/>
          </a:prstGeom>
          <a:noFill/>
          <a:ln/>
        </p:spPr>
        <p:txBody>
          <a:bodyPr wrap="square" rtlCol="0" anchor="ctr"/>
          <a:lstStyle/>
          <a:p>
            <a:pPr marL="0" indent="0">
              <a:buNone/>
            </a:pPr>
            <a:r>
              <a:rPr lang="en-US" sz="1050" b="1" dirty="0">
                <a:solidFill>
                  <a:srgbClr val="1A2540"/>
                </a:solidFill>
              </a:rPr>
              <a:t>EU AI Act &amp; GDPR</a:t>
            </a:r>
            <a:endParaRPr lang="en-US" sz="1050" dirty="0"/>
          </a:p>
        </p:txBody>
      </p:sp>
      <p:sp>
        <p:nvSpPr>
          <p:cNvPr id="23" name="Text 21"/>
          <p:cNvSpPr txBox="1"/>
          <p:nvPr/>
        </p:nvSpPr>
        <p:spPr>
          <a:xfrm>
            <a:off x="5029200" y="2002536"/>
            <a:ext cx="3840480" cy="301752"/>
          </a:xfrm>
          <a:prstGeom prst="rect">
            <a:avLst/>
          </a:prstGeom>
          <a:noFill/>
          <a:ln/>
        </p:spPr>
        <p:txBody>
          <a:bodyPr wrap="square" rtlCol="0" anchor="ctr"/>
          <a:lstStyle/>
          <a:p>
            <a:pPr marL="0" indent="0">
              <a:buNone/>
            </a:pPr>
            <a:r>
              <a:rPr lang="en-US" sz="950" dirty="0">
                <a:solidFill>
                  <a:srgbClr val="3D4F6E"/>
                </a:solidFill>
              </a:rPr>
              <a:t>Designed as a drafting aid, not a decision system — limited risk classification. GDPR: commercial lease data, legitimate interest basis, human sign-off required.</a:t>
            </a:r>
            <a:endParaRPr lang="en-US" sz="950" dirty="0"/>
          </a:p>
        </p:txBody>
      </p:sp>
      <p:sp>
        <p:nvSpPr>
          <p:cNvPr id="24" name="Shape 22"/>
          <p:cNvSpPr/>
          <p:nvPr/>
        </p:nvSpPr>
        <p:spPr>
          <a:xfrm>
            <a:off x="4892040" y="2487168"/>
            <a:ext cx="4069080" cy="932688"/>
          </a:xfrm>
          <a:prstGeom prst="rect">
            <a:avLst/>
          </a:prstGeom>
          <a:solidFill>
            <a:srgbClr val="E8ECF4"/>
          </a:solidFill>
          <a:ln w="12700">
            <a:solidFill>
              <a:srgbClr val="E8ECF4"/>
            </a:solidFill>
            <a:prstDash val="solid"/>
          </a:ln>
        </p:spPr>
        <p:txBody>
          <a:bodyPr/>
          <a:lstStyle/>
          <a:p>
            <a:endParaRPr lang="en-US"/>
          </a:p>
        </p:txBody>
      </p:sp>
      <p:sp>
        <p:nvSpPr>
          <p:cNvPr id="25" name="Shape 23"/>
          <p:cNvSpPr/>
          <p:nvPr/>
        </p:nvSpPr>
        <p:spPr>
          <a:xfrm>
            <a:off x="4892040" y="2487168"/>
            <a:ext cx="54864" cy="932688"/>
          </a:xfrm>
          <a:prstGeom prst="rect">
            <a:avLst/>
          </a:prstGeom>
          <a:solidFill>
            <a:srgbClr val="B45309"/>
          </a:solidFill>
          <a:ln w="12700">
            <a:solidFill>
              <a:srgbClr val="B45309"/>
            </a:solidFill>
            <a:prstDash val="solid"/>
          </a:ln>
        </p:spPr>
        <p:txBody>
          <a:bodyPr/>
          <a:lstStyle/>
          <a:p>
            <a:endParaRPr lang="en-US"/>
          </a:p>
        </p:txBody>
      </p:sp>
      <p:sp>
        <p:nvSpPr>
          <p:cNvPr id="26" name="Text 24"/>
          <p:cNvSpPr txBox="1"/>
          <p:nvPr/>
        </p:nvSpPr>
        <p:spPr>
          <a:xfrm>
            <a:off x="5029200" y="2606040"/>
            <a:ext cx="3840480" cy="182880"/>
          </a:xfrm>
          <a:prstGeom prst="rect">
            <a:avLst/>
          </a:prstGeom>
          <a:noFill/>
          <a:ln/>
        </p:spPr>
        <p:txBody>
          <a:bodyPr wrap="square" rtlCol="0" anchor="ctr"/>
          <a:lstStyle/>
          <a:p>
            <a:pPr marL="0" indent="0">
              <a:buNone/>
            </a:pPr>
            <a:r>
              <a:rPr lang="en-US" sz="800" b="1" kern="0" spc="80" dirty="0">
                <a:solidFill>
                  <a:srgbClr val="B45309"/>
                </a:solidFill>
              </a:rPr>
              <a:t>MEDIUM · STRATEGIC</a:t>
            </a:r>
            <a:endParaRPr lang="en-US" sz="800" dirty="0"/>
          </a:p>
        </p:txBody>
      </p:sp>
      <p:sp>
        <p:nvSpPr>
          <p:cNvPr id="27" name="Text 25"/>
          <p:cNvSpPr txBox="1"/>
          <p:nvPr/>
        </p:nvSpPr>
        <p:spPr>
          <a:xfrm>
            <a:off x="5029200" y="2807208"/>
            <a:ext cx="3840480" cy="201168"/>
          </a:xfrm>
          <a:prstGeom prst="rect">
            <a:avLst/>
          </a:prstGeom>
          <a:noFill/>
          <a:ln/>
        </p:spPr>
        <p:txBody>
          <a:bodyPr wrap="square" rtlCol="0" anchor="ctr"/>
          <a:lstStyle/>
          <a:p>
            <a:pPr marL="0" indent="0">
              <a:buNone/>
            </a:pPr>
            <a:r>
              <a:rPr lang="en-US" sz="1050" b="1" dirty="0">
                <a:solidFill>
                  <a:srgbClr val="1A2540"/>
                </a:solidFill>
              </a:rPr>
              <a:t>Vendor &amp; model dependency</a:t>
            </a:r>
            <a:endParaRPr lang="en-US" sz="1050" dirty="0"/>
          </a:p>
        </p:txBody>
      </p:sp>
      <p:sp>
        <p:nvSpPr>
          <p:cNvPr id="28" name="Text 26"/>
          <p:cNvSpPr txBox="1"/>
          <p:nvPr/>
        </p:nvSpPr>
        <p:spPr>
          <a:xfrm>
            <a:off x="5029200" y="3026664"/>
            <a:ext cx="3840480" cy="301752"/>
          </a:xfrm>
          <a:prstGeom prst="rect">
            <a:avLst/>
          </a:prstGeom>
          <a:noFill/>
          <a:ln/>
        </p:spPr>
        <p:txBody>
          <a:bodyPr wrap="square" rtlCol="0" anchor="ctr"/>
          <a:lstStyle/>
          <a:p>
            <a:pPr marL="0" indent="0">
              <a:buNone/>
            </a:pPr>
            <a:r>
              <a:rPr lang="en-US" sz="950" dirty="0">
                <a:solidFill>
                  <a:srgbClr val="3D4F6E"/>
                </a:solidFill>
              </a:rPr>
              <a:t>Built on switchable API layer. Underlying model replaceable without rebuilding. Open-weight models available for on-premises processing of confidential documents.</a:t>
            </a:r>
            <a:endParaRPr lang="en-US" sz="950" dirty="0"/>
          </a:p>
        </p:txBody>
      </p:sp>
      <p:sp>
        <p:nvSpPr>
          <p:cNvPr id="29" name="Text 27"/>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09 · EU AI ACT CLASSIFICATION</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Limited risk — with a clear
</a:t>
            </a:r>
            <a:r>
              <a:rPr lang="en-US" sz="2000" i="1" dirty="0">
                <a:solidFill>
                  <a:srgbClr val="3D4F6E"/>
                </a:solidFill>
                <a:latin typeface="Georgia" pitchFamily="34" charset="0"/>
                <a:ea typeface="Georgia" pitchFamily="34" charset="-122"/>
                <a:cs typeface="Georgia" pitchFamily="34" charset="-120"/>
              </a:rPr>
              <a:t>human-oversight design.</a:t>
            </a:r>
            <a:endParaRPr lang="en-US" sz="2000" dirty="0"/>
          </a:p>
        </p:txBody>
      </p:sp>
      <p:sp>
        <p:nvSpPr>
          <p:cNvPr id="4" name="Shape 2"/>
          <p:cNvSpPr/>
          <p:nvPr/>
        </p:nvSpPr>
        <p:spPr>
          <a:xfrm>
            <a:off x="548640" y="1463040"/>
            <a:ext cx="3931920" cy="1417320"/>
          </a:xfrm>
          <a:prstGeom prst="rect">
            <a:avLst/>
          </a:prstGeom>
          <a:solidFill>
            <a:srgbClr val="E8ECF4"/>
          </a:solidFill>
          <a:ln w="12700">
            <a:solidFill>
              <a:srgbClr val="E8ECF4"/>
            </a:solidFill>
            <a:prstDash val="solid"/>
          </a:ln>
        </p:spPr>
        <p:txBody>
          <a:bodyPr/>
          <a:lstStyle/>
          <a:p>
            <a:endParaRPr lang="en-US"/>
          </a:p>
        </p:txBody>
      </p:sp>
      <p:sp>
        <p:nvSpPr>
          <p:cNvPr id="5" name="Shape 3"/>
          <p:cNvSpPr/>
          <p:nvPr/>
        </p:nvSpPr>
        <p:spPr>
          <a:xfrm>
            <a:off x="548640" y="1463040"/>
            <a:ext cx="54864" cy="1417320"/>
          </a:xfrm>
          <a:prstGeom prst="rect">
            <a:avLst/>
          </a:prstGeom>
          <a:solidFill>
            <a:srgbClr val="1A6B3C"/>
          </a:solidFill>
          <a:ln w="12700">
            <a:solidFill>
              <a:srgbClr val="1A6B3C"/>
            </a:solidFill>
            <a:prstDash val="solid"/>
          </a:ln>
        </p:spPr>
        <p:txBody>
          <a:bodyPr/>
          <a:lstStyle/>
          <a:p>
            <a:endParaRPr lang="en-US"/>
          </a:p>
        </p:txBody>
      </p:sp>
      <p:sp>
        <p:nvSpPr>
          <p:cNvPr id="6" name="Text 4"/>
          <p:cNvSpPr txBox="1"/>
          <p:nvPr/>
        </p:nvSpPr>
        <p:spPr>
          <a:xfrm>
            <a:off x="685800" y="1581912"/>
            <a:ext cx="3703320" cy="182880"/>
          </a:xfrm>
          <a:prstGeom prst="rect">
            <a:avLst/>
          </a:prstGeom>
          <a:noFill/>
          <a:ln/>
        </p:spPr>
        <p:txBody>
          <a:bodyPr wrap="square" rtlCol="0" anchor="ctr"/>
          <a:lstStyle/>
          <a:p>
            <a:pPr marL="0" indent="0">
              <a:buNone/>
            </a:pPr>
            <a:r>
              <a:rPr lang="en-US" sz="800" b="1" kern="0" spc="80" dirty="0">
                <a:solidFill>
                  <a:srgbClr val="1A6B3C"/>
                </a:solidFill>
              </a:rPr>
              <a:t>CLASSIFICATION: LIMITED RISK</a:t>
            </a:r>
            <a:endParaRPr lang="en-US" sz="800" dirty="0"/>
          </a:p>
        </p:txBody>
      </p:sp>
      <p:sp>
        <p:nvSpPr>
          <p:cNvPr id="7" name="Text 5"/>
          <p:cNvSpPr txBox="1"/>
          <p:nvPr/>
        </p:nvSpPr>
        <p:spPr>
          <a:xfrm>
            <a:off x="685800" y="1783080"/>
            <a:ext cx="3703320" cy="201168"/>
          </a:xfrm>
          <a:prstGeom prst="rect">
            <a:avLst/>
          </a:prstGeom>
          <a:noFill/>
          <a:ln/>
        </p:spPr>
        <p:txBody>
          <a:bodyPr wrap="square" rtlCol="0" anchor="ctr"/>
          <a:lstStyle/>
          <a:p>
            <a:pPr marL="0" indent="0">
              <a:buNone/>
            </a:pPr>
            <a:r>
              <a:rPr lang="en-US" sz="1050" b="1" dirty="0">
                <a:solidFill>
                  <a:srgbClr val="1A2540"/>
                </a:solidFill>
              </a:rPr>
              <a:t>Why not high risk</a:t>
            </a:r>
            <a:endParaRPr lang="en-US" sz="1050" dirty="0"/>
          </a:p>
        </p:txBody>
      </p:sp>
      <p:sp>
        <p:nvSpPr>
          <p:cNvPr id="8" name="Text 6"/>
          <p:cNvSpPr txBox="1"/>
          <p:nvPr/>
        </p:nvSpPr>
        <p:spPr>
          <a:xfrm>
            <a:off x="685800" y="2002536"/>
            <a:ext cx="3703320" cy="786384"/>
          </a:xfrm>
          <a:prstGeom prst="rect">
            <a:avLst/>
          </a:prstGeom>
          <a:noFill/>
          <a:ln/>
        </p:spPr>
        <p:txBody>
          <a:bodyPr wrap="square" rtlCol="0" anchor="ctr"/>
          <a:lstStyle/>
          <a:p>
            <a:pPr marL="0" indent="0">
              <a:buNone/>
            </a:pPr>
            <a:r>
              <a:rPr lang="en-US" sz="950" dirty="0">
                <a:solidFill>
                  <a:srgbClr val="3D4F6E"/>
                </a:solidFill>
              </a:rPr>
              <a:t>The EU AI Act classifies systems as high risk when they make or significantly influence decisions affecting people's legal or financial rights autonomously. This system does not. It produces a structured draft that a qualified lawyer reviews, corrects, and approves before any output informs a decision. No automated decision-making.</a:t>
            </a:r>
            <a:endParaRPr lang="en-US" sz="950" dirty="0"/>
          </a:p>
        </p:txBody>
      </p:sp>
      <p:sp>
        <p:nvSpPr>
          <p:cNvPr id="9" name="Shape 7"/>
          <p:cNvSpPr/>
          <p:nvPr/>
        </p:nvSpPr>
        <p:spPr>
          <a:xfrm>
            <a:off x="548640" y="2971800"/>
            <a:ext cx="3931920" cy="1298448"/>
          </a:xfrm>
          <a:prstGeom prst="rect">
            <a:avLst/>
          </a:prstGeom>
          <a:solidFill>
            <a:srgbClr val="E8ECF4"/>
          </a:solidFill>
          <a:ln w="12700">
            <a:solidFill>
              <a:srgbClr val="E8ECF4"/>
            </a:solidFill>
            <a:prstDash val="solid"/>
          </a:ln>
        </p:spPr>
        <p:txBody>
          <a:bodyPr/>
          <a:lstStyle/>
          <a:p>
            <a:endParaRPr lang="en-US"/>
          </a:p>
        </p:txBody>
      </p:sp>
      <p:sp>
        <p:nvSpPr>
          <p:cNvPr id="10" name="Shape 8"/>
          <p:cNvSpPr/>
          <p:nvPr/>
        </p:nvSpPr>
        <p:spPr>
          <a:xfrm>
            <a:off x="548640" y="2971800"/>
            <a:ext cx="54864" cy="1298448"/>
          </a:xfrm>
          <a:prstGeom prst="rect">
            <a:avLst/>
          </a:prstGeom>
          <a:solidFill>
            <a:srgbClr val="B45309"/>
          </a:solidFill>
          <a:ln w="12700">
            <a:solidFill>
              <a:srgbClr val="B45309"/>
            </a:solidFill>
            <a:prstDash val="solid"/>
          </a:ln>
        </p:spPr>
        <p:txBody>
          <a:bodyPr/>
          <a:lstStyle/>
          <a:p>
            <a:endParaRPr lang="en-US"/>
          </a:p>
        </p:txBody>
      </p:sp>
      <p:sp>
        <p:nvSpPr>
          <p:cNvPr id="11" name="Text 9"/>
          <p:cNvSpPr txBox="1"/>
          <p:nvPr/>
        </p:nvSpPr>
        <p:spPr>
          <a:xfrm>
            <a:off x="685800" y="3090672"/>
            <a:ext cx="3703320" cy="182880"/>
          </a:xfrm>
          <a:prstGeom prst="rect">
            <a:avLst/>
          </a:prstGeom>
          <a:noFill/>
          <a:ln/>
        </p:spPr>
        <p:txBody>
          <a:bodyPr wrap="square" rtlCol="0" anchor="ctr"/>
          <a:lstStyle/>
          <a:p>
            <a:pPr marL="0" indent="0">
              <a:buNone/>
            </a:pPr>
            <a:r>
              <a:rPr lang="en-US" sz="800" b="1" kern="0" spc="80" dirty="0">
                <a:solidFill>
                  <a:srgbClr val="B45309"/>
                </a:solidFill>
              </a:rPr>
              <a:t>WATCH POINT</a:t>
            </a:r>
            <a:endParaRPr lang="en-US" sz="800" dirty="0"/>
          </a:p>
        </p:txBody>
      </p:sp>
      <p:sp>
        <p:nvSpPr>
          <p:cNvPr id="12" name="Text 10"/>
          <p:cNvSpPr txBox="1"/>
          <p:nvPr/>
        </p:nvSpPr>
        <p:spPr>
          <a:xfrm>
            <a:off x="685800" y="3291840"/>
            <a:ext cx="3703320" cy="201168"/>
          </a:xfrm>
          <a:prstGeom prst="rect">
            <a:avLst/>
          </a:prstGeom>
          <a:noFill/>
          <a:ln/>
        </p:spPr>
        <p:txBody>
          <a:bodyPr wrap="square" rtlCol="0" anchor="ctr"/>
          <a:lstStyle/>
          <a:p>
            <a:pPr marL="0" indent="0">
              <a:buNone/>
            </a:pPr>
            <a:r>
              <a:rPr lang="en-US" sz="1050" b="1" dirty="0">
                <a:solidFill>
                  <a:srgbClr val="1A2540"/>
                </a:solidFill>
              </a:rPr>
              <a:t>Adjacent to high risk</a:t>
            </a:r>
            <a:endParaRPr lang="en-US" sz="1050" dirty="0"/>
          </a:p>
        </p:txBody>
      </p:sp>
      <p:sp>
        <p:nvSpPr>
          <p:cNvPr id="13" name="Text 11"/>
          <p:cNvSpPr txBox="1"/>
          <p:nvPr/>
        </p:nvSpPr>
        <p:spPr>
          <a:xfrm>
            <a:off x="685800" y="3511296"/>
            <a:ext cx="3703320" cy="667512"/>
          </a:xfrm>
          <a:prstGeom prst="rect">
            <a:avLst/>
          </a:prstGeom>
          <a:noFill/>
          <a:ln/>
        </p:spPr>
        <p:txBody>
          <a:bodyPr wrap="square" rtlCol="0" anchor="ctr"/>
          <a:lstStyle/>
          <a:p>
            <a:pPr marL="0" indent="0">
              <a:buNone/>
            </a:pPr>
            <a:r>
              <a:rPr lang="en-US" sz="950" dirty="0">
                <a:solidFill>
                  <a:srgbClr val="3D4F6E"/>
                </a:solidFill>
              </a:rPr>
              <a:t>AI systems used in financial underwriting are high risk under Annex III. If the lease review output fed directly into an automated valuation model without human review, the classification would shift. The human-in-the-loop requirement is the design choice that keeps this system in the limited-risk category.</a:t>
            </a:r>
            <a:endParaRPr lang="en-US" sz="950" dirty="0"/>
          </a:p>
        </p:txBody>
      </p:sp>
      <p:sp>
        <p:nvSpPr>
          <p:cNvPr id="14" name="Text 12"/>
          <p:cNvSpPr txBox="1"/>
          <p:nvPr/>
        </p:nvSpPr>
        <p:spPr>
          <a:xfrm>
            <a:off x="4663440" y="1463040"/>
            <a:ext cx="4023360" cy="237744"/>
          </a:xfrm>
          <a:prstGeom prst="rect">
            <a:avLst/>
          </a:prstGeom>
          <a:noFill/>
          <a:ln/>
        </p:spPr>
        <p:txBody>
          <a:bodyPr wrap="square" rtlCol="0" anchor="ctr"/>
          <a:lstStyle/>
          <a:p>
            <a:pPr marL="0" indent="0">
              <a:buNone/>
            </a:pPr>
            <a:r>
              <a:rPr lang="en-US" sz="1050" b="1" dirty="0">
                <a:solidFill>
                  <a:srgbClr val="1A2540"/>
                </a:solidFill>
              </a:rPr>
              <a:t>Obligations under limited risk (Art. 52)</a:t>
            </a:r>
            <a:endParaRPr lang="en-US" sz="1050" dirty="0"/>
          </a:p>
        </p:txBody>
      </p:sp>
      <p:sp>
        <p:nvSpPr>
          <p:cNvPr id="15" name="Text 13"/>
          <p:cNvSpPr txBox="1"/>
          <p:nvPr/>
        </p:nvSpPr>
        <p:spPr>
          <a:xfrm>
            <a:off x="4663440" y="1755648"/>
            <a:ext cx="4023360" cy="969264"/>
          </a:xfrm>
          <a:prstGeom prst="rect">
            <a:avLst/>
          </a:prstGeom>
          <a:noFill/>
          <a:ln/>
        </p:spPr>
        <p:txBody>
          <a:bodyPr wrap="square" rtlCol="0" anchor="ctr"/>
          <a:lstStyle/>
          <a:p>
            <a:pPr marL="0" indent="0">
              <a:buNone/>
            </a:pPr>
            <a:r>
              <a:rPr lang="en-US" sz="1050" b="1" dirty="0">
                <a:solidFill>
                  <a:srgbClr val="C8A84B"/>
                </a:solidFill>
              </a:rPr>
              <a:t>— </a:t>
            </a:r>
            <a:r>
              <a:rPr lang="en-US" sz="1050" dirty="0">
                <a:solidFill>
                  <a:srgbClr val="3D4F6E"/>
                </a:solidFill>
              </a:rPr>
              <a:t>Transparency to users — system must inform users they interact with AI. The disclaimer on every output fulfils this.
</a:t>
            </a:r>
            <a:r>
              <a:rPr lang="en-US" sz="1050" b="1" dirty="0">
                <a:solidFill>
                  <a:srgbClr val="C8A84B"/>
                </a:solidFill>
              </a:rPr>
              <a:t>— </a:t>
            </a:r>
            <a:r>
              <a:rPr lang="en-US" sz="1050" dirty="0">
                <a:solidFill>
                  <a:srgbClr val="3D4F6E"/>
                </a:solidFill>
              </a:rPr>
              <a:t>No deceptive AI — output may not be presented as a final legal opinion. Explicitly labelled as AI draft.
</a:t>
            </a:r>
            <a:r>
              <a:rPr lang="en-US" sz="1050" b="1" dirty="0">
                <a:solidFill>
                  <a:srgbClr val="C8A84B"/>
                </a:solidFill>
              </a:rPr>
              <a:t>— </a:t>
            </a:r>
            <a:r>
              <a:rPr lang="en-US" sz="1050" dirty="0">
                <a:solidFill>
                  <a:srgbClr val="3D4F6E"/>
                </a:solidFill>
              </a:rPr>
              <a:t>Documentation — maintain records of model, prompts, and evaluation results. Eval plan and workflow docs fulfil this at POC stage.</a:t>
            </a:r>
            <a:endParaRPr lang="en-US" sz="1050" dirty="0"/>
          </a:p>
        </p:txBody>
      </p:sp>
      <p:sp>
        <p:nvSpPr>
          <p:cNvPr id="16" name="Shape 14"/>
          <p:cNvSpPr/>
          <p:nvPr/>
        </p:nvSpPr>
        <p:spPr>
          <a:xfrm>
            <a:off x="4663440" y="2971800"/>
            <a:ext cx="4023360" cy="1298448"/>
          </a:xfrm>
          <a:prstGeom prst="rect">
            <a:avLst/>
          </a:prstGeom>
          <a:solidFill>
            <a:srgbClr val="E8ECF4"/>
          </a:solidFill>
          <a:ln w="12700">
            <a:solidFill>
              <a:srgbClr val="E8ECF4"/>
            </a:solidFill>
            <a:prstDash val="solid"/>
          </a:ln>
        </p:spPr>
        <p:txBody>
          <a:bodyPr/>
          <a:lstStyle/>
          <a:p>
            <a:endParaRPr lang="en-US"/>
          </a:p>
        </p:txBody>
      </p:sp>
      <p:sp>
        <p:nvSpPr>
          <p:cNvPr id="17" name="Shape 15"/>
          <p:cNvSpPr/>
          <p:nvPr/>
        </p:nvSpPr>
        <p:spPr>
          <a:xfrm>
            <a:off x="4663440" y="2971800"/>
            <a:ext cx="54864" cy="1298448"/>
          </a:xfrm>
          <a:prstGeom prst="rect">
            <a:avLst/>
          </a:prstGeom>
          <a:solidFill>
            <a:srgbClr val="3D4F6E"/>
          </a:solidFill>
          <a:ln w="12700">
            <a:solidFill>
              <a:srgbClr val="3D4F6E"/>
            </a:solidFill>
            <a:prstDash val="solid"/>
          </a:ln>
        </p:spPr>
        <p:txBody>
          <a:bodyPr/>
          <a:lstStyle/>
          <a:p>
            <a:endParaRPr lang="en-US"/>
          </a:p>
        </p:txBody>
      </p:sp>
      <p:sp>
        <p:nvSpPr>
          <p:cNvPr id="18" name="Text 16"/>
          <p:cNvSpPr txBox="1"/>
          <p:nvPr/>
        </p:nvSpPr>
        <p:spPr>
          <a:xfrm>
            <a:off x="4800600" y="3090672"/>
            <a:ext cx="3794760" cy="182880"/>
          </a:xfrm>
          <a:prstGeom prst="rect">
            <a:avLst/>
          </a:prstGeom>
          <a:noFill/>
          <a:ln/>
        </p:spPr>
        <p:txBody>
          <a:bodyPr wrap="square" rtlCol="0" anchor="ctr"/>
          <a:lstStyle/>
          <a:p>
            <a:pPr marL="0" indent="0">
              <a:buNone/>
            </a:pPr>
            <a:r>
              <a:rPr lang="en-US" sz="800" b="1" kern="0" spc="80" dirty="0">
                <a:solidFill>
                  <a:srgbClr val="3D4F6E"/>
                </a:solidFill>
              </a:rPr>
              <a:t>GDPR POSITION</a:t>
            </a:r>
            <a:endParaRPr lang="en-US" sz="800" dirty="0"/>
          </a:p>
        </p:txBody>
      </p:sp>
      <p:sp>
        <p:nvSpPr>
          <p:cNvPr id="19" name="Text 17"/>
          <p:cNvSpPr txBox="1"/>
          <p:nvPr/>
        </p:nvSpPr>
        <p:spPr>
          <a:xfrm>
            <a:off x="4800600" y="3291840"/>
            <a:ext cx="3794760" cy="201168"/>
          </a:xfrm>
          <a:prstGeom prst="rect">
            <a:avLst/>
          </a:prstGeom>
          <a:noFill/>
          <a:ln/>
        </p:spPr>
        <p:txBody>
          <a:bodyPr wrap="square" rtlCol="0" anchor="ctr"/>
          <a:lstStyle/>
          <a:p>
            <a:pPr marL="0" indent="0">
              <a:buNone/>
            </a:pPr>
            <a:r>
              <a:rPr lang="en-US" sz="1050" b="1" dirty="0">
                <a:solidFill>
                  <a:srgbClr val="1A2540"/>
                </a:solidFill>
              </a:rPr>
              <a:t>Data handling</a:t>
            </a:r>
            <a:endParaRPr lang="en-US" sz="1050" dirty="0"/>
          </a:p>
        </p:txBody>
      </p:sp>
      <p:sp>
        <p:nvSpPr>
          <p:cNvPr id="20" name="Text 18"/>
          <p:cNvSpPr txBox="1"/>
          <p:nvPr/>
        </p:nvSpPr>
        <p:spPr>
          <a:xfrm>
            <a:off x="4800600" y="3511296"/>
            <a:ext cx="3794760" cy="667512"/>
          </a:xfrm>
          <a:prstGeom prst="rect">
            <a:avLst/>
          </a:prstGeom>
          <a:noFill/>
          <a:ln/>
        </p:spPr>
        <p:txBody>
          <a:bodyPr wrap="square" rtlCol="0" anchor="ctr"/>
          <a:lstStyle/>
          <a:p>
            <a:pPr marL="0" indent="0">
              <a:buNone/>
            </a:pPr>
            <a:r>
              <a:rPr lang="en-US" sz="950" dirty="0">
                <a:solidFill>
                  <a:srgbClr val="3D4F6E"/>
                </a:solidFill>
              </a:rPr>
              <a:t>Commercial lease data is primarily corporate, not personal. Where personal data appears (individual guarantors), legal basis is legitimate interest. Data minimisation: extract only what is needed. Delete processed documents after deal completion.</a:t>
            </a:r>
            <a:endParaRPr lang="en-US" sz="950" dirty="0"/>
          </a:p>
        </p:txBody>
      </p:sp>
      <p:sp>
        <p:nvSpPr>
          <p:cNvPr id="21" name="Text 19"/>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7772400" cy="201168"/>
          </a:xfrm>
          <a:prstGeom prst="rect">
            <a:avLst/>
          </a:prstGeom>
          <a:noFill/>
          <a:ln/>
        </p:spPr>
        <p:txBody>
          <a:bodyPr wrap="square" rtlCol="0" anchor="ctr"/>
          <a:lstStyle/>
          <a:p>
            <a:pPr marL="0" indent="0">
              <a:buNone/>
            </a:pPr>
            <a:r>
              <a:rPr lang="en-US" sz="900" b="1" kern="0" spc="150" dirty="0">
                <a:solidFill>
                  <a:srgbClr val="8A9AB8"/>
                </a:solidFill>
              </a:rPr>
              <a:t>10 · SUSTAINABILITY</a:t>
            </a:r>
            <a:endParaRPr lang="en-US" sz="900" dirty="0"/>
          </a:p>
        </p:txBody>
      </p:sp>
      <p:sp>
        <p:nvSpPr>
          <p:cNvPr id="3" name="Text 1"/>
          <p:cNvSpPr txBox="1"/>
          <p:nvPr/>
        </p:nvSpPr>
        <p:spPr>
          <a:xfrm>
            <a:off x="548640" y="475488"/>
            <a:ext cx="8046720" cy="713232"/>
          </a:xfrm>
          <a:prstGeom prst="rect">
            <a:avLst/>
          </a:prstGeom>
          <a:noFill/>
          <a:ln/>
        </p:spPr>
        <p:txBody>
          <a:bodyPr wrap="square" rtlCol="0" anchor="ctr"/>
          <a:lstStyle/>
          <a:p>
            <a:pPr marL="0" indent="0">
              <a:lnSpc>
                <a:spcPct val="115000"/>
              </a:lnSpc>
              <a:buNone/>
            </a:pPr>
            <a:r>
              <a:rPr lang="en-US" sz="2000" dirty="0">
                <a:solidFill>
                  <a:srgbClr val="0F1F3D"/>
                </a:solidFill>
                <a:latin typeface="Georgia" pitchFamily="34" charset="0"/>
                <a:ea typeface="Georgia" pitchFamily="34" charset="-122"/>
                <a:cs typeface="Georgia" pitchFamily="34" charset="-120"/>
              </a:rPr>
              <a:t>Faster due diligence is also
</a:t>
            </a:r>
            <a:r>
              <a:rPr lang="en-US" sz="2000" i="1" dirty="0">
                <a:solidFill>
                  <a:srgbClr val="3D4F6E"/>
                </a:solidFill>
                <a:latin typeface="Georgia" pitchFamily="34" charset="0"/>
                <a:ea typeface="Georgia" pitchFamily="34" charset="-122"/>
                <a:cs typeface="Georgia" pitchFamily="34" charset="-120"/>
              </a:rPr>
              <a:t>greener due diligence.</a:t>
            </a:r>
            <a:endParaRPr lang="en-US" sz="2000" dirty="0"/>
          </a:p>
        </p:txBody>
      </p:sp>
      <p:sp>
        <p:nvSpPr>
          <p:cNvPr id="4" name="Shape 2"/>
          <p:cNvSpPr/>
          <p:nvPr/>
        </p:nvSpPr>
        <p:spPr>
          <a:xfrm>
            <a:off x="548640" y="1463040"/>
            <a:ext cx="2651760" cy="960120"/>
          </a:xfrm>
          <a:prstGeom prst="rect">
            <a:avLst/>
          </a:prstGeom>
          <a:solidFill>
            <a:srgbClr val="E8ECF4"/>
          </a:solidFill>
          <a:ln w="12700">
            <a:solidFill>
              <a:srgbClr val="E8ECF4"/>
            </a:solidFill>
            <a:prstDash val="solid"/>
          </a:ln>
        </p:spPr>
        <p:txBody>
          <a:bodyPr/>
          <a:lstStyle/>
          <a:p>
            <a:endParaRPr lang="en-US"/>
          </a:p>
        </p:txBody>
      </p:sp>
      <p:sp>
        <p:nvSpPr>
          <p:cNvPr id="5" name="Text 3"/>
          <p:cNvSpPr txBox="1"/>
          <p:nvPr/>
        </p:nvSpPr>
        <p:spPr>
          <a:xfrm>
            <a:off x="713232" y="1554480"/>
            <a:ext cx="2377440" cy="475488"/>
          </a:xfrm>
          <a:prstGeom prst="rect">
            <a:avLst/>
          </a:prstGeom>
          <a:noFill/>
          <a:ln/>
        </p:spPr>
        <p:txBody>
          <a:bodyPr wrap="square" rtlCol="0" anchor="ctr"/>
          <a:lstStyle/>
          <a:p>
            <a:pPr marL="0" indent="0">
              <a:buNone/>
            </a:pPr>
            <a:r>
              <a:rPr lang="en-US" sz="3000" dirty="0">
                <a:solidFill>
                  <a:srgbClr val="1A6B3C"/>
                </a:solidFill>
                <a:latin typeface="Georgia" pitchFamily="34" charset="0"/>
                <a:ea typeface="Georgia" pitchFamily="34" charset="-122"/>
                <a:cs typeface="Georgia" pitchFamily="34" charset="-120"/>
              </a:rPr>
              <a:t>−65%</a:t>
            </a:r>
            <a:endParaRPr lang="en-US" sz="3000" dirty="0"/>
          </a:p>
        </p:txBody>
      </p:sp>
      <p:sp>
        <p:nvSpPr>
          <p:cNvPr id="6" name="Text 4"/>
          <p:cNvSpPr txBox="1"/>
          <p:nvPr/>
        </p:nvSpPr>
        <p:spPr>
          <a:xfrm>
            <a:off x="713232" y="2011680"/>
            <a:ext cx="2377440" cy="347472"/>
          </a:xfrm>
          <a:prstGeom prst="rect">
            <a:avLst/>
          </a:prstGeom>
          <a:noFill/>
          <a:ln/>
        </p:spPr>
        <p:txBody>
          <a:bodyPr wrap="square" rtlCol="0" anchor="ctr"/>
          <a:lstStyle/>
          <a:p>
            <a:pPr marL="0" indent="0">
              <a:buNone/>
            </a:pPr>
            <a:r>
              <a:rPr lang="en-US" sz="950" dirty="0">
                <a:solidFill>
                  <a:srgbClr val="3D4F6E"/>
                </a:solidFill>
              </a:rPr>
              <a:t>reduction in due diligence cycle length — fewer days of travel, printing, and external counsel office time per deal</a:t>
            </a:r>
            <a:endParaRPr lang="en-US" sz="950" dirty="0"/>
          </a:p>
        </p:txBody>
      </p:sp>
      <p:sp>
        <p:nvSpPr>
          <p:cNvPr id="7" name="Shape 5"/>
          <p:cNvSpPr/>
          <p:nvPr/>
        </p:nvSpPr>
        <p:spPr>
          <a:xfrm>
            <a:off x="3383280" y="1463040"/>
            <a:ext cx="2651760" cy="960120"/>
          </a:xfrm>
          <a:prstGeom prst="rect">
            <a:avLst/>
          </a:prstGeom>
          <a:solidFill>
            <a:srgbClr val="E8ECF4"/>
          </a:solidFill>
          <a:ln w="12700">
            <a:solidFill>
              <a:srgbClr val="E8ECF4"/>
            </a:solidFill>
            <a:prstDash val="solid"/>
          </a:ln>
        </p:spPr>
        <p:txBody>
          <a:bodyPr/>
          <a:lstStyle/>
          <a:p>
            <a:endParaRPr lang="en-US"/>
          </a:p>
        </p:txBody>
      </p:sp>
      <p:sp>
        <p:nvSpPr>
          <p:cNvPr id="8" name="Text 6"/>
          <p:cNvSpPr txBox="1"/>
          <p:nvPr/>
        </p:nvSpPr>
        <p:spPr>
          <a:xfrm>
            <a:off x="3547872" y="1554480"/>
            <a:ext cx="2377440" cy="475488"/>
          </a:xfrm>
          <a:prstGeom prst="rect">
            <a:avLst/>
          </a:prstGeom>
          <a:noFill/>
          <a:ln/>
        </p:spPr>
        <p:txBody>
          <a:bodyPr wrap="square" rtlCol="0" anchor="ctr"/>
          <a:lstStyle/>
          <a:p>
            <a:pPr marL="0" indent="0">
              <a:buNone/>
            </a:pPr>
            <a:r>
              <a:rPr lang="en-US" sz="3000" dirty="0">
                <a:solidFill>
                  <a:srgbClr val="1A6B3C"/>
                </a:solidFill>
                <a:latin typeface="Georgia" pitchFamily="34" charset="0"/>
                <a:ea typeface="Georgia" pitchFamily="34" charset="-122"/>
                <a:cs typeface="Georgia" pitchFamily="34" charset="-120"/>
              </a:rPr>
              <a:t>−80%</a:t>
            </a:r>
            <a:endParaRPr lang="en-US" sz="3000" dirty="0"/>
          </a:p>
        </p:txBody>
      </p:sp>
      <p:sp>
        <p:nvSpPr>
          <p:cNvPr id="9" name="Text 7"/>
          <p:cNvSpPr txBox="1"/>
          <p:nvPr/>
        </p:nvSpPr>
        <p:spPr>
          <a:xfrm>
            <a:off x="3547872" y="2011680"/>
            <a:ext cx="2377440" cy="347472"/>
          </a:xfrm>
          <a:prstGeom prst="rect">
            <a:avLst/>
          </a:prstGeom>
          <a:noFill/>
          <a:ln/>
        </p:spPr>
        <p:txBody>
          <a:bodyPr wrap="square" rtlCol="0" anchor="ctr"/>
          <a:lstStyle/>
          <a:p>
            <a:pPr marL="0" indent="0">
              <a:buNone/>
            </a:pPr>
            <a:r>
              <a:rPr lang="en-US" sz="950" dirty="0">
                <a:solidFill>
                  <a:srgbClr val="3D4F6E"/>
                </a:solidFill>
              </a:rPr>
              <a:t>reduction in paper-based document handling — lease packs reviewed digitally end-to-end</a:t>
            </a:r>
            <a:endParaRPr lang="en-US" sz="950" dirty="0"/>
          </a:p>
        </p:txBody>
      </p:sp>
      <p:sp>
        <p:nvSpPr>
          <p:cNvPr id="10" name="Shape 8"/>
          <p:cNvSpPr/>
          <p:nvPr/>
        </p:nvSpPr>
        <p:spPr>
          <a:xfrm>
            <a:off x="6217920" y="1463040"/>
            <a:ext cx="2651760" cy="960120"/>
          </a:xfrm>
          <a:prstGeom prst="rect">
            <a:avLst/>
          </a:prstGeom>
          <a:solidFill>
            <a:srgbClr val="E8ECF4"/>
          </a:solidFill>
          <a:ln w="12700">
            <a:solidFill>
              <a:srgbClr val="E8ECF4"/>
            </a:solidFill>
            <a:prstDash val="solid"/>
          </a:ln>
        </p:spPr>
        <p:txBody>
          <a:bodyPr/>
          <a:lstStyle/>
          <a:p>
            <a:endParaRPr lang="en-US"/>
          </a:p>
        </p:txBody>
      </p:sp>
      <p:sp>
        <p:nvSpPr>
          <p:cNvPr id="11" name="Text 9"/>
          <p:cNvSpPr txBox="1"/>
          <p:nvPr/>
        </p:nvSpPr>
        <p:spPr>
          <a:xfrm>
            <a:off x="6382512" y="1554480"/>
            <a:ext cx="2377440" cy="475488"/>
          </a:xfrm>
          <a:prstGeom prst="rect">
            <a:avLst/>
          </a:prstGeom>
          <a:noFill/>
          <a:ln/>
        </p:spPr>
        <p:txBody>
          <a:bodyPr wrap="square" rtlCol="0" anchor="ctr"/>
          <a:lstStyle/>
          <a:p>
            <a:pPr marL="0" indent="0">
              <a:buNone/>
            </a:pPr>
            <a:r>
              <a:rPr lang="en-US" sz="3000" dirty="0">
                <a:solidFill>
                  <a:srgbClr val="1A6B3C"/>
                </a:solidFill>
                <a:latin typeface="Georgia" pitchFamily="34" charset="0"/>
                <a:ea typeface="Georgia" pitchFamily="34" charset="-122"/>
                <a:cs typeface="Georgia" pitchFamily="34" charset="-120"/>
              </a:rPr>
              <a:t>−50%</a:t>
            </a:r>
            <a:endParaRPr lang="en-US" sz="3000" dirty="0"/>
          </a:p>
        </p:txBody>
      </p:sp>
      <p:sp>
        <p:nvSpPr>
          <p:cNvPr id="12" name="Text 10"/>
          <p:cNvSpPr txBox="1"/>
          <p:nvPr/>
        </p:nvSpPr>
        <p:spPr>
          <a:xfrm>
            <a:off x="6382512" y="2011680"/>
            <a:ext cx="2377440" cy="347472"/>
          </a:xfrm>
          <a:prstGeom prst="rect">
            <a:avLst/>
          </a:prstGeom>
          <a:noFill/>
          <a:ln/>
        </p:spPr>
        <p:txBody>
          <a:bodyPr wrap="square" rtlCol="0" anchor="ctr"/>
          <a:lstStyle/>
          <a:p>
            <a:pPr marL="0" indent="0">
              <a:buNone/>
            </a:pPr>
            <a:r>
              <a:rPr lang="en-US" sz="950" dirty="0">
                <a:solidFill>
                  <a:srgbClr val="3D4F6E"/>
                </a:solidFill>
              </a:rPr>
              <a:t>reduction in external counsel engagement hours — less travel to law firm offices for routine abstraction</a:t>
            </a:r>
            <a:endParaRPr lang="en-US" sz="950" dirty="0"/>
          </a:p>
        </p:txBody>
      </p:sp>
      <p:sp>
        <p:nvSpPr>
          <p:cNvPr id="13" name="Text 11"/>
          <p:cNvSpPr txBox="1"/>
          <p:nvPr/>
        </p:nvSpPr>
        <p:spPr>
          <a:xfrm>
            <a:off x="548640" y="2862072"/>
            <a:ext cx="5029200" cy="640080"/>
          </a:xfrm>
          <a:prstGeom prst="rect">
            <a:avLst/>
          </a:prstGeom>
          <a:noFill/>
          <a:ln/>
        </p:spPr>
        <p:txBody>
          <a:bodyPr wrap="square" rtlCol="0" anchor="ctr"/>
          <a:lstStyle/>
          <a:p>
            <a:pPr marL="0" indent="0">
              <a:buNone/>
            </a:pPr>
            <a:r>
              <a:rPr lang="en-US" sz="1100" dirty="0">
                <a:solidFill>
                  <a:srgbClr val="3D4F6E"/>
                </a:solidFill>
              </a:rPr>
              <a:t>ESG reporting relevance: Mid-market property developers in the EU face increasing pressure to report on Scope 3 emissions — including those from professional services. External counsel hours, document courier services, and business travel for deal review are all Scope 3 contributors this system reduces.</a:t>
            </a:r>
            <a:endParaRPr lang="en-US" sz="1100" dirty="0"/>
          </a:p>
        </p:txBody>
      </p:sp>
      <p:sp>
        <p:nvSpPr>
          <p:cNvPr id="14" name="Shape 12"/>
          <p:cNvSpPr/>
          <p:nvPr/>
        </p:nvSpPr>
        <p:spPr>
          <a:xfrm>
            <a:off x="5760720" y="2542032"/>
            <a:ext cx="3017520" cy="1170432"/>
          </a:xfrm>
          <a:prstGeom prst="rect">
            <a:avLst/>
          </a:prstGeom>
          <a:solidFill>
            <a:srgbClr val="E8ECF4"/>
          </a:solidFill>
          <a:ln w="12700">
            <a:solidFill>
              <a:srgbClr val="E8ECF4"/>
            </a:solidFill>
            <a:prstDash val="solid"/>
          </a:ln>
        </p:spPr>
        <p:txBody>
          <a:bodyPr/>
          <a:lstStyle/>
          <a:p>
            <a:endParaRPr lang="en-US"/>
          </a:p>
        </p:txBody>
      </p:sp>
      <p:sp>
        <p:nvSpPr>
          <p:cNvPr id="15" name="Shape 13"/>
          <p:cNvSpPr/>
          <p:nvPr/>
        </p:nvSpPr>
        <p:spPr>
          <a:xfrm>
            <a:off x="5760720" y="2542032"/>
            <a:ext cx="54864" cy="1170432"/>
          </a:xfrm>
          <a:prstGeom prst="rect">
            <a:avLst/>
          </a:prstGeom>
          <a:solidFill>
            <a:srgbClr val="1A6B3C"/>
          </a:solidFill>
          <a:ln w="12700">
            <a:solidFill>
              <a:srgbClr val="1A6B3C"/>
            </a:solidFill>
            <a:prstDash val="solid"/>
          </a:ln>
        </p:spPr>
        <p:txBody>
          <a:bodyPr/>
          <a:lstStyle/>
          <a:p>
            <a:endParaRPr lang="en-US"/>
          </a:p>
        </p:txBody>
      </p:sp>
      <p:sp>
        <p:nvSpPr>
          <p:cNvPr id="16" name="Text 14"/>
          <p:cNvSpPr txBox="1"/>
          <p:nvPr/>
        </p:nvSpPr>
        <p:spPr>
          <a:xfrm>
            <a:off x="5897880" y="2660904"/>
            <a:ext cx="2788920" cy="201168"/>
          </a:xfrm>
          <a:prstGeom prst="rect">
            <a:avLst/>
          </a:prstGeom>
          <a:noFill/>
          <a:ln/>
        </p:spPr>
        <p:txBody>
          <a:bodyPr wrap="square" rtlCol="0" anchor="ctr"/>
          <a:lstStyle/>
          <a:p>
            <a:pPr marL="0" indent="0">
              <a:buNone/>
            </a:pPr>
            <a:r>
              <a:rPr lang="en-US" sz="1050" b="1" dirty="0">
                <a:solidFill>
                  <a:srgbClr val="1A2540"/>
                </a:solidFill>
              </a:rPr>
              <a:t>Beyond the numbers</a:t>
            </a:r>
            <a:endParaRPr lang="en-US" sz="1050" dirty="0"/>
          </a:p>
        </p:txBody>
      </p:sp>
      <p:sp>
        <p:nvSpPr>
          <p:cNvPr id="17" name="Text 15"/>
          <p:cNvSpPr txBox="1"/>
          <p:nvPr/>
        </p:nvSpPr>
        <p:spPr>
          <a:xfrm>
            <a:off x="5897880" y="2880360"/>
            <a:ext cx="2788920" cy="740664"/>
          </a:xfrm>
          <a:prstGeom prst="rect">
            <a:avLst/>
          </a:prstGeom>
          <a:noFill/>
          <a:ln/>
        </p:spPr>
        <p:txBody>
          <a:bodyPr wrap="square" rtlCol="0" anchor="ctr"/>
          <a:lstStyle/>
          <a:p>
            <a:pPr marL="0" indent="0">
              <a:buNone/>
            </a:pPr>
            <a:r>
              <a:rPr lang="en-US" sz="950" dirty="0">
                <a:solidFill>
                  <a:srgbClr val="3D4F6E"/>
                </a:solidFill>
              </a:rPr>
              <a:t>A developer that demonstrates operational efficiency gains — faster decisions, less paper, less travel — has a stronger ESG narrative for institutional investors and lenders. The AI system contributes to that narrative as a documented operational improvement, not just a cost saving.</a:t>
            </a:r>
            <a:endParaRPr lang="en-US" sz="950" dirty="0"/>
          </a:p>
        </p:txBody>
      </p:sp>
      <p:sp>
        <p:nvSpPr>
          <p:cNvPr id="18" name="Text 16"/>
          <p:cNvSpPr txBox="1"/>
          <p:nvPr/>
        </p:nvSpPr>
        <p:spPr>
          <a:xfrm>
            <a:off x="548640" y="4279392"/>
            <a:ext cx="7863840" cy="320040"/>
          </a:xfrm>
          <a:prstGeom prst="rect">
            <a:avLst/>
          </a:prstGeom>
          <a:noFill/>
          <a:ln/>
        </p:spPr>
        <p:txBody>
          <a:bodyPr wrap="square" rtlCol="0" anchor="ctr"/>
          <a:lstStyle/>
          <a:p>
            <a:pPr marL="0" indent="0">
              <a:lnSpc>
                <a:spcPct val="140000"/>
              </a:lnSpc>
              <a:buNone/>
            </a:pPr>
            <a:r>
              <a:rPr lang="en-US" sz="850" dirty="0">
                <a:solidFill>
                  <a:srgbClr val="8A9AB8"/>
                </a:solidFill>
              </a:rPr>
              <a:t>Note: figures are directional estimates based on cycle time compression and paperwork reduction benchmarks. Exact figures measured during the pilot phase.</a:t>
            </a:r>
            <a:endParaRPr lang="en-US" sz="850" dirty="0"/>
          </a:p>
        </p:txBody>
      </p:sp>
      <p:sp>
        <p:nvSpPr>
          <p:cNvPr id="19" name="Text 17"/>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F3D"/>
        </a:solidFill>
        <a:effectLst/>
      </p:bgPr>
    </p:bg>
    <p:spTree>
      <p:nvGrpSpPr>
        <p:cNvPr id="1" name=""/>
        <p:cNvGrpSpPr/>
        <p:nvPr/>
      </p:nvGrpSpPr>
      <p:grpSpPr>
        <a:xfrm>
          <a:off x="0" y="0"/>
          <a:ext cx="0" cy="0"/>
          <a:chOff x="0" y="0"/>
          <a:chExt cx="0" cy="0"/>
        </a:xfrm>
      </p:grpSpPr>
      <p:sp>
        <p:nvSpPr>
          <p:cNvPr id="2" name="Text 0"/>
          <p:cNvSpPr txBox="1"/>
          <p:nvPr/>
        </p:nvSpPr>
        <p:spPr>
          <a:xfrm>
            <a:off x="640080" y="594360"/>
            <a:ext cx="7315200" cy="237744"/>
          </a:xfrm>
          <a:prstGeom prst="rect">
            <a:avLst/>
          </a:prstGeom>
          <a:noFill/>
          <a:ln/>
        </p:spPr>
        <p:txBody>
          <a:bodyPr wrap="square" rtlCol="0" anchor="ctr"/>
          <a:lstStyle/>
          <a:p>
            <a:pPr marL="0" indent="0">
              <a:buNone/>
            </a:pPr>
            <a:r>
              <a:rPr lang="en-US" sz="900" b="1" kern="0" spc="180" dirty="0">
                <a:solidFill>
                  <a:srgbClr val="C8A84B"/>
                </a:solidFill>
              </a:rPr>
              <a:t>ROUND 1 · CLOSE</a:t>
            </a:r>
            <a:endParaRPr lang="en-US" sz="900" dirty="0"/>
          </a:p>
        </p:txBody>
      </p:sp>
      <p:sp>
        <p:nvSpPr>
          <p:cNvPr id="3" name="Shape 1"/>
          <p:cNvSpPr/>
          <p:nvPr/>
        </p:nvSpPr>
        <p:spPr>
          <a:xfrm>
            <a:off x="640080" y="960120"/>
            <a:ext cx="457200" cy="36576"/>
          </a:xfrm>
          <a:prstGeom prst="rect">
            <a:avLst/>
          </a:prstGeom>
          <a:solidFill>
            <a:srgbClr val="C8A84B"/>
          </a:solidFill>
          <a:ln w="12700">
            <a:solidFill>
              <a:srgbClr val="C8A84B"/>
            </a:solidFill>
            <a:prstDash val="solid"/>
          </a:ln>
        </p:spPr>
        <p:txBody>
          <a:bodyPr/>
          <a:lstStyle/>
          <a:p>
            <a:endParaRPr lang="en-US"/>
          </a:p>
        </p:txBody>
      </p:sp>
      <p:sp>
        <p:nvSpPr>
          <p:cNvPr id="4" name="Text 2"/>
          <p:cNvSpPr txBox="1"/>
          <p:nvPr/>
        </p:nvSpPr>
        <p:spPr>
          <a:xfrm>
            <a:off x="640080" y="1078992"/>
            <a:ext cx="6858000" cy="1828800"/>
          </a:xfrm>
          <a:prstGeom prst="rect">
            <a:avLst/>
          </a:prstGeom>
          <a:noFill/>
          <a:ln/>
        </p:spPr>
        <p:txBody>
          <a:bodyPr wrap="square" rtlCol="0" anchor="ctr"/>
          <a:lstStyle/>
          <a:p>
            <a:pPr marL="0" indent="0">
              <a:lnSpc>
                <a:spcPct val="120000"/>
              </a:lnSpc>
              <a:buNone/>
            </a:pPr>
            <a:r>
              <a:rPr lang="en-US" sz="2600" dirty="0">
                <a:solidFill>
                  <a:srgbClr val="FFFFFF"/>
                </a:solidFill>
                <a:latin typeface="Georgia" pitchFamily="34" charset="0"/>
                <a:ea typeface="Georgia" pitchFamily="34" charset="-122"/>
                <a:cs typeface="Georgia" pitchFamily="34" charset="-120"/>
              </a:rPr>
              <a:t>The technology works.</a:t>
            </a:r>
            <a:endParaRPr lang="en-US" sz="2600" dirty="0"/>
          </a:p>
          <a:p>
            <a:pPr marL="0" indent="0">
              <a:lnSpc>
                <a:spcPct val="120000"/>
              </a:lnSpc>
              <a:buNone/>
            </a:pPr>
            <a:r>
              <a:rPr lang="en-US" sz="2600" dirty="0">
                <a:solidFill>
                  <a:srgbClr val="FFFFFF"/>
                </a:solidFill>
                <a:latin typeface="Georgia" pitchFamily="34" charset="0"/>
                <a:ea typeface="Georgia" pitchFamily="34" charset="-122"/>
                <a:cs typeface="Georgia" pitchFamily="34" charset="-120"/>
              </a:rPr>
              <a:t>The question is whether </a:t>
            </a:r>
            <a:endParaRPr lang="en-US" sz="2600" dirty="0"/>
          </a:p>
          <a:p>
            <a:pPr marL="0" indent="0">
              <a:lnSpc>
                <a:spcPct val="120000"/>
              </a:lnSpc>
              <a:buNone/>
            </a:pPr>
            <a:r>
              <a:rPr lang="en-US" sz="2600" i="1" dirty="0">
                <a:solidFill>
                  <a:srgbClr val="C8A84B"/>
                </a:solidFill>
                <a:latin typeface="Georgia" pitchFamily="34" charset="0"/>
                <a:ea typeface="Georgia" pitchFamily="34" charset="-122"/>
                <a:cs typeface="Georgia" pitchFamily="34" charset="-120"/>
              </a:rPr>
              <a:t>Chleo's team </a:t>
            </a:r>
            <a:r>
              <a:rPr lang="en-US" sz="2600" dirty="0">
                <a:solidFill>
                  <a:srgbClr val="FFFFFF"/>
                </a:solidFill>
                <a:latin typeface="Georgia" pitchFamily="34" charset="0"/>
                <a:ea typeface="Georgia" pitchFamily="34" charset="-122"/>
                <a:cs typeface="Georgia" pitchFamily="34" charset="-120"/>
              </a:rPr>
              <a:t>will trust and use it.</a:t>
            </a:r>
            <a:endParaRPr lang="en-US" sz="2600" dirty="0"/>
          </a:p>
        </p:txBody>
      </p:sp>
      <p:sp>
        <p:nvSpPr>
          <p:cNvPr id="5" name="Shape 3"/>
          <p:cNvSpPr/>
          <p:nvPr/>
        </p:nvSpPr>
        <p:spPr>
          <a:xfrm>
            <a:off x="640080" y="2880360"/>
            <a:ext cx="7498080" cy="1691640"/>
          </a:xfrm>
          <a:prstGeom prst="rect">
            <a:avLst/>
          </a:prstGeom>
          <a:solidFill>
            <a:srgbClr val="1A2E52"/>
          </a:solidFill>
          <a:ln w="12700">
            <a:solidFill>
              <a:srgbClr val="2A3E62"/>
            </a:solidFill>
            <a:prstDash val="solid"/>
          </a:ln>
        </p:spPr>
        <p:txBody>
          <a:bodyPr/>
          <a:lstStyle/>
          <a:p>
            <a:endParaRPr lang="en-US"/>
          </a:p>
        </p:txBody>
      </p:sp>
      <p:sp>
        <p:nvSpPr>
          <p:cNvPr id="6" name="Text 4"/>
          <p:cNvSpPr txBox="1"/>
          <p:nvPr/>
        </p:nvSpPr>
        <p:spPr>
          <a:xfrm>
            <a:off x="868680" y="2999232"/>
            <a:ext cx="7040880" cy="1463040"/>
          </a:xfrm>
          <a:prstGeom prst="rect">
            <a:avLst/>
          </a:prstGeom>
          <a:noFill/>
          <a:ln/>
        </p:spPr>
        <p:txBody>
          <a:bodyPr wrap="square" rtlCol="0" anchor="ctr"/>
          <a:lstStyle/>
          <a:p>
            <a:pPr marL="0" indent="0">
              <a:buNone/>
            </a:pPr>
            <a:r>
              <a:rPr lang="en-US" sz="1050" b="1" dirty="0">
                <a:solidFill>
                  <a:srgbClr val="C8A84B"/>
                </a:solidFill>
              </a:rPr>
              <a:t>The ask: </a:t>
            </a:r>
            <a:r>
              <a:rPr lang="en-US" sz="1050" dirty="0">
                <a:solidFill>
                  <a:srgbClr val="E8ECF4"/>
                </a:solidFill>
              </a:rPr>
              <a:t>Commission a 10-week pilot on one upcoming acquisition. Run the AI alongside the existing legal process. Real accuracy numbers, real time savings, and a clear go/no-go decision before any wider commitment.
</a:t>
            </a:r>
            <a:r>
              <a:rPr lang="en-US" sz="1050" b="1" dirty="0">
                <a:solidFill>
                  <a:srgbClr val="C8A84B"/>
                </a:solidFill>
              </a:rPr>
              <a:t>Pilot cost: </a:t>
            </a:r>
            <a:r>
              <a:rPr lang="en-US" sz="1050" dirty="0">
                <a:solidFill>
                  <a:srgbClr val="E8ECF4"/>
                </a:solidFill>
              </a:rPr>
              <a:t>€20,000–€30,000.  </a:t>
            </a:r>
            <a:r>
              <a:rPr lang="en-US" sz="1050" b="1" dirty="0">
                <a:solidFill>
                  <a:srgbClr val="C8A84B"/>
                </a:solidFill>
              </a:rPr>
              <a:t>Potential saving at 10 deals/year: </a:t>
            </a:r>
            <a:r>
              <a:rPr lang="en-US" sz="1050" dirty="0">
                <a:solidFill>
                  <a:srgbClr val="E8ECF4"/>
                </a:solidFill>
              </a:rPr>
              <a:t>€128,000–€192,000/year.  </a:t>
            </a:r>
            <a:r>
              <a:rPr lang="en-US" sz="1050" b="1" dirty="0">
                <a:solidFill>
                  <a:srgbClr val="C8A84B"/>
                </a:solidFill>
              </a:rPr>
              <a:t>Payback: </a:t>
            </a:r>
            <a:r>
              <a:rPr lang="en-US" sz="1050" dirty="0">
                <a:solidFill>
                  <a:srgbClr val="E8ECF4"/>
                </a:solidFill>
              </a:rPr>
              <a:t>within the first deal cycle.</a:t>
            </a:r>
            <a:endParaRPr lang="en-US" sz="1050" dirty="0"/>
          </a:p>
        </p:txBody>
      </p:sp>
      <p:sp>
        <p:nvSpPr>
          <p:cNvPr id="7" name="Text 5"/>
          <p:cNvSpPr txBox="1"/>
          <p:nvPr/>
        </p:nvSpPr>
        <p:spPr>
          <a:xfrm>
            <a:off x="8046720" y="4846320"/>
            <a:ext cx="914400" cy="182880"/>
          </a:xfrm>
          <a:prstGeom prst="rect">
            <a:avLst/>
          </a:prstGeom>
          <a:noFill/>
          <a:ln/>
        </p:spPr>
        <p:txBody>
          <a:bodyPr wrap="square" rtlCol="0" anchor="ctr"/>
          <a:lstStyle/>
          <a:p>
            <a:pPr marL="0" indent="0" algn="r">
              <a:buNone/>
            </a:pPr>
            <a:r>
              <a:rPr lang="en-US" sz="900" dirty="0">
                <a:solidFill>
                  <a:srgbClr val="8A9AB8"/>
                </a:solidFill>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1672</Words>
  <Application>Microsoft Macintosh PowerPoint</Application>
  <PresentationFormat>On-screen Show (16:9)</PresentationFormat>
  <Paragraphs>194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Ioanna Ioanna</cp:lastModifiedBy>
  <cp:revision>2</cp:revision>
  <dcterms:created xsi:type="dcterms:W3CDTF">2026-09-19T10:18:49Z</dcterms:created>
  <dcterms:modified xsi:type="dcterms:W3CDTF">2026-09-19T10:25:40Z</dcterms:modified>
</cp:coreProperties>
</file>