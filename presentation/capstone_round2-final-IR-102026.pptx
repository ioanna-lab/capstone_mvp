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4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2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48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apstone-mvp-k2pj.onrender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39489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AI CONSULTING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212464"/>
            <a:ext cx="8229600" cy="909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Lease &amp;</a:t>
            </a:r>
            <a:endParaRPr lang="en-US" sz="42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2085438"/>
            <a:ext cx="8229600" cy="788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5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Review</a:t>
            </a:r>
            <a:endParaRPr lang="en-US" sz="42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885664"/>
            <a:ext cx="8229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Commercial Property Developers — Portugal</a:t>
            </a:r>
            <a:endParaRPr lang="en-US" sz="27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758638"/>
            <a:ext cx="10515600" cy="484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drove every design decision: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4267873"/>
            <a:ext cx="10515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know the AI isn't making things up?"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4971102"/>
            <a:ext cx="105156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answers that question — with research, architecture, experiments, and results.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5722830"/>
            <a:ext cx="274320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5989572"/>
            <a:ext cx="274320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Real Estate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5722830"/>
            <a:ext cx="274320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5989572"/>
            <a:ext cx="274320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· 200–1,000 staff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5722830"/>
            <a:ext cx="274320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5989572"/>
            <a:ext cx="274320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Ioanna Renta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5722830"/>
            <a:ext cx="274320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5989572"/>
            <a:ext cx="274320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AI Consulting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0" y="6365436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8243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3484"/>
            <a:ext cx="10515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Chleo's company loses weeks and hundreds of thousands to manual lease review.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636826"/>
            <a:ext cx="2743200" cy="175807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365760" y="1758072"/>
            <a:ext cx="2743200" cy="848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5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4–8h</a:t>
            </a:r>
            <a:endParaRPr lang="en-US" sz="3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70423"/>
            <a:ext cx="2560320" cy="727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abstract a single commercial lease manually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636826"/>
            <a:ext cx="2743200" cy="175807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3246120" y="1758072"/>
            <a:ext cx="2743200" cy="848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5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days</a:t>
            </a:r>
            <a:endParaRPr lang="en-US" sz="375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570423"/>
            <a:ext cx="2560320" cy="727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due diligence cycle per acquisition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36826"/>
            <a:ext cx="2743200" cy="175807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126480" y="1758072"/>
            <a:ext cx="2743200" cy="848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5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€192k</a:t>
            </a:r>
            <a:endParaRPr lang="en-US" sz="37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70423"/>
            <a:ext cx="2560320" cy="727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abstraction cost at 12 deals/year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636826"/>
            <a:ext cx="2743200" cy="1758072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9006840" y="1758072"/>
            <a:ext cx="2743200" cy="848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deals</a:t>
            </a:r>
            <a:endParaRPr lang="en-US" sz="375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570423"/>
            <a:ext cx="2560320" cy="727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material clause errors with financial consequences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3637392"/>
            <a:ext cx="109728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showed: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001131"/>
            <a:ext cx="11247120" cy="6547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548640" y="4098128"/>
            <a:ext cx="10972800" cy="484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88% of real estate firms are piloting AI in 2026 (up from 5% in 2023) — but only 8% have automated any process. Most are still in pilot.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752859"/>
            <a:ext cx="11247120" cy="6547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548640" y="4849856"/>
            <a:ext cx="10972800" cy="484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85% reduction in lease review time in real deployments (Kolena 2025). 95% accuracy on standard clause extraction vs 91% manual (DLA Piper 2025).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5504586"/>
            <a:ext cx="11247120" cy="6547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548640" y="5601584"/>
            <a:ext cx="10972800" cy="484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window for early movers is open — but closing. First movers build trust with lawyers before adoption becomes industry standard.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0" y="6365436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8243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EVOLUTION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3484"/>
            <a:ext cx="10515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proved the concept. Round 2 makes it trustworthy.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63965"/>
            <a:ext cx="1051560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peer rating: 4.50/5 · Teaching staff decision: proceed · Every feedback point addressed below.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452"/>
          <a:ext cx="11338560" cy="4708908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 gap (feedback received)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2 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5 synthetic leases — results not convincing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Portuguese synthetic leases + 31-column ground truth 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now measurable at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page / clause citations — can't verify 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field cites exact page number and clause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Lawyer can verify any value in seconds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model — no way to know if output is right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independently validates every GPT-4o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Disagreements flag uncertain extractions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feedback loop — system doesn't learn from errors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Lawyer corrections → Supabase → few-shot examples in future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improves with each reviewed 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POC only — not usable in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5-tab Streamlit MVP deployed on Render, standalone URL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can use it without running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lease — not localised for Portugal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NRAU context, NIF, Finanças, PT terminology in every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Differentiator vs generic SaaS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515600" y="6365436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8243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3484"/>
            <a:ext cx="10515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 — end to end.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576203"/>
            <a:ext cx="1737360" cy="1333710"/>
          </a:xfrm>
          <a:prstGeom prst="rect">
            <a:avLst/>
          </a:prstGeom>
          <a:solidFill>
            <a:srgbClr val="E8F4FD"/>
          </a:solidFill>
          <a:ln w="12700">
            <a:solidFill>
              <a:srgbClr val="2C6F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274320" y="1673200"/>
            <a:ext cx="1737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PDF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097562"/>
            <a:ext cx="1737360" cy="727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by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2109687"/>
            <a:ext cx="32004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1576203"/>
            <a:ext cx="1737360" cy="1333710"/>
          </a:xfrm>
          <a:prstGeom prst="rect">
            <a:avLst/>
          </a:prstGeom>
          <a:solidFill>
            <a:srgbClr val="F4F4F6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2148840" y="1673200"/>
            <a:ext cx="1737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097562"/>
            <a:ext cx="1737360" cy="727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layer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913632" y="2109687"/>
            <a:ext cx="32004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23360" y="1576203"/>
            <a:ext cx="1737360" cy="1333710"/>
          </a:xfrm>
          <a:prstGeom prst="rect">
            <a:avLst/>
          </a:prstGeom>
          <a:solidFill>
            <a:srgbClr val="FFF8F0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023360" y="1673200"/>
            <a:ext cx="1737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097562"/>
            <a:ext cx="1737360" cy="727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fields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788152" y="2109687"/>
            <a:ext cx="32004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97880" y="1576203"/>
            <a:ext cx="1737360" cy="133371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897880" y="1673200"/>
            <a:ext cx="1737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2097562"/>
            <a:ext cx="1737360" cy="727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%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62672" y="2109687"/>
            <a:ext cx="32004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0" y="1576203"/>
            <a:ext cx="1737360" cy="1333710"/>
          </a:xfrm>
          <a:prstGeom prst="rect">
            <a:avLst/>
          </a:prstGeom>
          <a:solidFill>
            <a:srgbClr val="F9F0FF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7772400" y="1673200"/>
            <a:ext cx="1737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UI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2097562"/>
            <a:ext cx="1737360" cy="727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correct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537192" y="2109687"/>
            <a:ext cx="32004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46920" y="1576203"/>
            <a:ext cx="1737360" cy="1333710"/>
          </a:xfrm>
          <a:prstGeom prst="rect">
            <a:avLst/>
          </a:prstGeom>
          <a:solidFill>
            <a:srgbClr val="F4F4F6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9646920" y="1673200"/>
            <a:ext cx="1737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2097562"/>
            <a:ext cx="1737360" cy="727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sync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213029"/>
            <a:ext cx="2651760" cy="1636826"/>
          </a:xfrm>
          <a:prstGeom prst="rect">
            <a:avLst/>
          </a:prstGeom>
          <a:solidFill>
            <a:srgbClr val="FFF8F0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65760" y="3310026"/>
            <a:ext cx="246888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LAW LAYER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3673766"/>
            <a:ext cx="2468880" cy="106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portugal_law.py — NRAU Lei 6/2006, NIF rules, Finanças registration, stamp duty attribution, notice periods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17520" y="3213029"/>
            <a:ext cx="2651760" cy="1636826"/>
          </a:xfrm>
          <a:prstGeom prst="rect">
            <a:avLst/>
          </a:prstGeom>
          <a:solidFill>
            <a:srgbClr val="E8F4FD"/>
          </a:solidFill>
          <a:ln w="12700">
            <a:solidFill>
              <a:srgbClr val="2C6F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3108960" y="3310026"/>
            <a:ext cx="246888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CORPUS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108960" y="3673766"/>
            <a:ext cx="2468880" cy="106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store over uploaded leases — natural language queries across the full portfolio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60720" y="3213029"/>
            <a:ext cx="2651760" cy="1636826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5852160" y="3310026"/>
            <a:ext cx="246888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852160" y="3673766"/>
            <a:ext cx="2468880" cy="106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extraction + validation call traced — input, output, latency, cost, agreement score logged per run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03920" y="3213029"/>
            <a:ext cx="3108960" cy="1636826"/>
          </a:xfrm>
          <a:prstGeom prst="rect">
            <a:avLst/>
          </a:prstGeom>
          <a:solidFill>
            <a:srgbClr val="F9F0FF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8595360" y="3310026"/>
            <a:ext cx="292608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595360" y="3673766"/>
            <a:ext cx="2926080" cy="106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corrections → saved to Supabase → injected as few-shot examples into next extraction prompt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65760" y="5068099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available for extraction (instructor-unlocked):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5395465"/>
            <a:ext cx="2148840" cy="788101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57200" y="5480337"/>
            <a:ext cx="196596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gpt-4o-2024-11-20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5783453"/>
            <a:ext cx="196596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fast · recommended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651760" y="5395465"/>
            <a:ext cx="2148840" cy="788101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743200" y="5480337"/>
            <a:ext cx="196596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2743200" y="5783453"/>
            <a:ext cx="196596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· slower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37760" y="5395465"/>
            <a:ext cx="2148840" cy="788101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5029200" y="5480337"/>
            <a:ext cx="196596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029200" y="5783453"/>
            <a:ext cx="196596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reasoning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23760" y="5395465"/>
            <a:ext cx="2148840" cy="788101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7315200" y="5480337"/>
            <a:ext cx="196596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o3-mini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7315200" y="5783453"/>
            <a:ext cx="196596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reasoning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09760" y="5395465"/>
            <a:ext cx="2148840" cy="788101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9601200" y="5480337"/>
            <a:ext cx="196596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o1-pro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9601200" y="5783453"/>
            <a:ext cx="196596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accuracy · slowest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0515600" y="6365436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8243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EXTRACTION OUTPUT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3484"/>
            <a:ext cx="10515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cites its source. The lawyer can verify any value in seconds.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943600" y="1636826"/>
            <a:ext cx="5303520" cy="6547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053328" y="1733823"/>
            <a:ext cx="192024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1733823"/>
            <a:ext cx="301752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€19,900/month · p.4, Clause 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2388554"/>
            <a:ext cx="5303520" cy="6547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053328" y="2485551"/>
            <a:ext cx="192024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option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2485551"/>
            <a:ext cx="301752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2029-01-22, 120 days notice · p.3, Clause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3140281"/>
            <a:ext cx="5303520" cy="6547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053328" y="3237279"/>
            <a:ext cx="192024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3237279"/>
            <a:ext cx="301752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€39,800 (2 months) · p.6, Clause 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0" y="3892009"/>
            <a:ext cx="5303520" cy="6547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053328" y="3989006"/>
            <a:ext cx="192024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 tenant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3989006"/>
            <a:ext cx="301752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543321819 · p.1, Clause 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0" y="4643737"/>
            <a:ext cx="5303520" cy="6547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053328" y="4740734"/>
            <a:ext cx="192024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 reg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4740734"/>
            <a:ext cx="301752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AT · p.8, Clause 9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0" y="1636826"/>
            <a:ext cx="5669280" cy="4546740"/>
          </a:xfrm>
          <a:prstGeom prst="rect">
            <a:avLst/>
          </a:prstGeom>
          <a:solidFill>
            <a:srgbClr val="FFF8F0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035040" y="1721699"/>
            <a:ext cx="548640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FLAGGED CLAUSE EXAMPLE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035040" y="2121812"/>
            <a:ext cx="146304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2121812"/>
            <a:ext cx="3840480" cy="460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condition — dilapidations survival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035040" y="2606797"/>
            <a:ext cx="146304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589520" y="2606797"/>
            <a:ext cx="3840480" cy="460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035040" y="3091783"/>
            <a:ext cx="146304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3091783"/>
            <a:ext cx="3840480" cy="460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p.7, Clause 8.3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035040" y="3576769"/>
            <a:ext cx="146304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text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589520" y="3576769"/>
            <a:ext cx="3840480" cy="460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"dilapidations liability shall not be waived upon exercise of the break option"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035040" y="4061754"/>
            <a:ext cx="146304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0" y="4061754"/>
            <a:ext cx="3840480" cy="460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Non-standard. Landlord retains right to pursue repair claims after the tenant exercises the break. Significant unexpected financial exposure.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035040" y="4692236"/>
            <a:ext cx="146304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law ref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4692236"/>
            <a:ext cx="3840480" cy="460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NRAU Art. 1046 — obligations survive unless explicitly waived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035040" y="5177221"/>
            <a:ext cx="146304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589520" y="5177221"/>
            <a:ext cx="3840480" cy="460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removal. Escalate to senior counsel before proceeding.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10515600" y="6365436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5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AACD4FC-ECC7-3C85-F3B2-A38788A95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51" y="1049917"/>
            <a:ext cx="5465729" cy="5684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8243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VALIDATION EXPERIMENT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3484"/>
            <a:ext cx="10515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one output. The transparency mechanism.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63965"/>
            <a:ext cx="1051560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extracts · Claude Haiku independently validates · Disagreements surface to the lawyer.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65760" y="1636826"/>
            <a:ext cx="3200400" cy="1818696"/>
          </a:xfrm>
          <a:prstGeom prst="rect">
            <a:avLst/>
          </a:prstGeom>
          <a:solidFill>
            <a:srgbClr val="E8F4FD"/>
          </a:solidFill>
          <a:ln w="12700">
            <a:solidFill>
              <a:srgbClr val="2C6F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02920" y="1758072"/>
            <a:ext cx="2926080" cy="969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206240" y="1636826"/>
            <a:ext cx="3200400" cy="1818696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343400" y="1758072"/>
            <a:ext cx="2926080" cy="969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46720" y="1636826"/>
            <a:ext cx="3200400" cy="1818696"/>
          </a:xfrm>
          <a:prstGeom prst="rect">
            <a:avLst/>
          </a:prstGeom>
          <a:solidFill>
            <a:srgbClr val="FFF8F0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183880" y="1758072"/>
            <a:ext cx="2926080" cy="969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750" dirty="0"/>
          </a:p>
          <a:p>
            <a:pPr marL="0" indent="0">
              <a:buNone/>
            </a:pPr>
            <a:r>
              <a:rPr lang="en-US" sz="17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303681"/>
            <a:ext cx="365760" cy="484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303681"/>
            <a:ext cx="365760" cy="484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698015"/>
            <a:ext cx="109728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experiment showed: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073879"/>
            <a:ext cx="11247120" cy="50923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7200" y="4146627"/>
            <a:ext cx="36576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146627"/>
            <a:ext cx="320040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agreement on standard leases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146627"/>
            <a:ext cx="71323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extracted correctly, values consistent between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655862"/>
            <a:ext cx="11247120" cy="50923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57200" y="4728609"/>
            <a:ext cx="36576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728609"/>
            <a:ext cx="320040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initially — parsing bug found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728609"/>
            <a:ext cx="71323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wrapped JSON in markdown fences. Fixed with 3-strategy parser (regex strip, fence removal, bracket search).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237844"/>
            <a:ext cx="11247120" cy="50923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57200" y="5310592"/>
            <a:ext cx="36576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310592"/>
            <a:ext cx="320040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75–90% range after fix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5310592"/>
            <a:ext cx="71323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score now meaningful. Low scores (&lt;70%) reliably flag leases needing extra lawyer attention.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5819827"/>
            <a:ext cx="11247120" cy="50923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457200" y="5892575"/>
            <a:ext cx="36576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5892575"/>
            <a:ext cx="320040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failure modes by design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5892575"/>
            <a:ext cx="71323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misses a value → Claude still finds it. Claude misreads context → GPT-4o provides the anchor. Two errors must coincide to pass undetected.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881360" y="6421514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2921"/>
            <a:ext cx="1097280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LANGSMITH TRACING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96030"/>
            <a:ext cx="10515600" cy="586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auditable. Every run is logged.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521912"/>
            <a:ext cx="5029200" cy="4396635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02920" y="1612099"/>
            <a:ext cx="4754880" cy="338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LangSmith captures per run: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051763"/>
            <a:ext cx="4754880" cy="834233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94360" y="2119403"/>
            <a:ext cx="4572000" cy="293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extract_lease_fields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12512"/>
            <a:ext cx="4572000" cy="45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lease text truncated to 12k tokens · Output: 27-field JSON · Latency · Token count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976184"/>
            <a:ext cx="4754880" cy="834233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94360" y="3043824"/>
            <a:ext cx="4572000" cy="293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flag_unusual_clauses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36933"/>
            <a:ext cx="4572000" cy="45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same lease text · Output: flagged clauses with risk levels · Latency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900604"/>
            <a:ext cx="4754880" cy="834233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94360" y="3968245"/>
            <a:ext cx="4572000" cy="293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validate_extraction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261354"/>
            <a:ext cx="4572000" cy="45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extraction result · Output: agreement score 0–100 + field issues · Claude model used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825025"/>
            <a:ext cx="4754880" cy="834233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94360" y="4892666"/>
            <a:ext cx="4572000" cy="293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process_lease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185775"/>
            <a:ext cx="4572000" cy="45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trace wrapping all above · Total cost per lease in EUR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6110196"/>
            <a:ext cx="11247120" cy="473483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48640" y="6177836"/>
            <a:ext cx="109728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lease-review-eval · 10 categories · ground truth from 200-lease corpus · traces live at smith.langchain.com → lease-review-mvp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583679"/>
            <a:ext cx="1097280" cy="20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A40BC41-EC05-EF6D-BFE5-7F69C9077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898" y="1507339"/>
            <a:ext cx="5768451" cy="43660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8243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TEST CORPUS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3484"/>
            <a:ext cx="10515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synthetic Portuguese leases. Known ground truth. Measurable accuracy.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636826"/>
            <a:ext cx="5486400" cy="6911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636826"/>
            <a:ext cx="594360" cy="691104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365760" y="1758072"/>
            <a:ext cx="594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09574"/>
            <a:ext cx="27432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office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000565"/>
            <a:ext cx="466344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leases — baseline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4928"/>
            <a:ext cx="5486400" cy="6911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2424928"/>
            <a:ext cx="594360" cy="691104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65760" y="2546174"/>
            <a:ext cx="594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97676"/>
            <a:ext cx="27432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788667"/>
            <a:ext cx="466344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with service charge complexity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13029"/>
            <a:ext cx="5486400" cy="6911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65760" y="3213029"/>
            <a:ext cx="594360" cy="691104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65760" y="3334276"/>
            <a:ext cx="594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285777"/>
            <a:ext cx="27432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76769"/>
            <a:ext cx="466344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clauses, assignment restrictions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01131"/>
            <a:ext cx="5486400" cy="6911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65760" y="4001131"/>
            <a:ext cx="594360" cy="691104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65760" y="4122377"/>
            <a:ext cx="594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073879"/>
            <a:ext cx="27432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option issues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364870"/>
            <a:ext cx="466344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Dilapidations survival, conditional breaks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789233"/>
            <a:ext cx="5486400" cy="6911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65760" y="4789233"/>
            <a:ext cx="594360" cy="691104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65760" y="4910479"/>
            <a:ext cx="594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861980"/>
            <a:ext cx="27432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rent review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5152972"/>
            <a:ext cx="466344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caps, stepped rent, market review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636826"/>
            <a:ext cx="5486400" cy="6911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035040" y="1636826"/>
            <a:ext cx="594360" cy="691104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035040" y="1758072"/>
            <a:ext cx="594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1709574"/>
            <a:ext cx="27432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restrictions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2000565"/>
            <a:ext cx="466344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prohibition, landlord consent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424928"/>
            <a:ext cx="5486400" cy="6911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035040" y="2424928"/>
            <a:ext cx="594360" cy="691104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035040" y="2546174"/>
            <a:ext cx="594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720840" y="2497676"/>
            <a:ext cx="27432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2788667"/>
            <a:ext cx="466344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documents — tests null handling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3213029"/>
            <a:ext cx="5486400" cy="6911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035040" y="3213029"/>
            <a:ext cx="594360" cy="691104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6035040" y="3334276"/>
            <a:ext cx="594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6720840" y="3285777"/>
            <a:ext cx="27432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720840" y="3576769"/>
            <a:ext cx="466344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year leases — NRAU edge cases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4001131"/>
            <a:ext cx="5486400" cy="6911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6035040" y="4001131"/>
            <a:ext cx="594360" cy="691104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6035040" y="4122377"/>
            <a:ext cx="594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6720840" y="4073879"/>
            <a:ext cx="27432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combos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720840" y="4364870"/>
            <a:ext cx="466344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high-risk flags in one lease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35040" y="4789233"/>
            <a:ext cx="5486400" cy="6911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6035040" y="4789233"/>
            <a:ext cx="594360" cy="691104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6035040" y="4910479"/>
            <a:ext cx="59436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6720840" y="4861980"/>
            <a:ext cx="2743200" cy="315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issues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720840" y="5152972"/>
            <a:ext cx="4663440" cy="266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duty on tenant, unregistered AT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5601584"/>
            <a:ext cx="11247120" cy="751727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 txBox="1"/>
          <p:nvPr/>
        </p:nvSpPr>
        <p:spPr>
          <a:xfrm>
            <a:off x="548640" y="5698581"/>
            <a:ext cx="10972800" cy="557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CSV: 31 columns per lease (all extracted fields + expected flags + risk level) · Used for LangSmith evaluation dataset · Excluded from git (200 PDFs), CSV included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0515600" y="6365436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2921"/>
            <a:ext cx="1097280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STRESS TEST &amp; DETERMINISM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96030"/>
            <a:ext cx="10515600" cy="586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scale — tested and documented.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82248"/>
            <a:ext cx="10515600" cy="338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"Untested on more than 5 documents" — Round 1 feedback. Addressed.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65760" y="1521912"/>
            <a:ext cx="2651760" cy="135281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365760" y="1634646"/>
            <a:ext cx="2651760" cy="620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32138"/>
            <a:ext cx="246888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 completed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 UI test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521912"/>
            <a:ext cx="2651760" cy="135281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3200400" y="1634646"/>
            <a:ext cx="2651760" cy="620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threads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232138"/>
            <a:ext cx="246888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 speedup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sequential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521912"/>
            <a:ext cx="2651760" cy="135281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035040" y="1634646"/>
            <a:ext cx="2651760" cy="620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232138"/>
            <a:ext cx="246888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(~180s sequential)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9680" y="1521912"/>
            <a:ext cx="2651760" cy="135281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869680" y="1634646"/>
            <a:ext cx="2651760" cy="620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€0.025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2232138"/>
            <a:ext cx="246888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Claude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6087649"/>
            <a:ext cx="1124712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48640" y="6166563"/>
            <a:ext cx="10972800" cy="338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finding: structured fields (dates, rent, NIF) ✅ identical across 3 runs. Free-text fields ⚠️ minor punctuation variation — expected at temperature=0 with long outputs. All material values stable.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0" y="6606226"/>
            <a:ext cx="1097280" cy="20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C301ED4-E462-D4E1-F11E-CC0A383B7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309" y="2906928"/>
            <a:ext cx="4892981" cy="30773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25211E6-855F-4F9C-5702-AF730FC23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78" y="3055035"/>
            <a:ext cx="5424581" cy="29128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2921"/>
            <a:ext cx="1097280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ACQUISITION PROPOSAL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96030"/>
            <a:ext cx="10515600" cy="586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individual lease reviews to an investment decision — in one click.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521912"/>
            <a:ext cx="4754880" cy="4396635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02920" y="1612099"/>
            <a:ext cx="4572000" cy="338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proposal calculates: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063036"/>
            <a:ext cx="4480560" cy="49603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94360" y="2141950"/>
            <a:ext cx="19202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REVIEW / PASS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141950"/>
            <a:ext cx="224028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+ gross yield threshold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626707"/>
            <a:ext cx="4480560" cy="49603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94360" y="2705621"/>
            <a:ext cx="19202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yield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705621"/>
            <a:ext cx="224028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rent ÷ asking price × 100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190379"/>
            <a:ext cx="4480560" cy="49603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94360" y="3269293"/>
            <a:ext cx="19202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3269293"/>
            <a:ext cx="224028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Rent-weighted average years remaining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54050"/>
            <a:ext cx="4480560" cy="49603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94360" y="3832964"/>
            <a:ext cx="19202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832964"/>
            <a:ext cx="224028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clauses ×2 + medium ×1, normalised 0–10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317721"/>
            <a:ext cx="4480560" cy="49603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94360" y="4396635"/>
            <a:ext cx="19202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606040" y="4396635"/>
            <a:ext cx="224028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price × 6.5% (PT transfer tax)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881392"/>
            <a:ext cx="4480560" cy="49603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594360" y="4960306"/>
            <a:ext cx="19202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duty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4960306"/>
            <a:ext cx="224028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price × 0.8% (PT acquisition tax)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445064"/>
            <a:ext cx="4480560" cy="49603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94360" y="5523978"/>
            <a:ext cx="19202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606040" y="5523978"/>
            <a:ext cx="224028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until all leases lawyer-signed-off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6110196"/>
            <a:ext cx="11247120" cy="473483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48640" y="6177836"/>
            <a:ext cx="109728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run: Parque Logístico Lisboa · 4 warehouse leases · asking €8.5M · REVIEW (high-risk clauses + yield 0.5% below 4% PT threshold) · Total tax €620,500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621946"/>
            <a:ext cx="1097280" cy="20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AA6F9B2-FBE8-1D60-11EB-DCD3BE106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923220"/>
            <a:ext cx="4769843" cy="51644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8243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HONEST EVALUATION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3484"/>
            <a:ext cx="10515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broke, what we fixed, what the pilot needs to verify.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0" y="6365436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5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E970242A-B83F-E1CC-C2B2-C966407EC657}"/>
              </a:ext>
            </a:extLst>
          </p:cNvPr>
          <p:cNvSpPr txBox="1"/>
          <p:nvPr/>
        </p:nvSpPr>
        <p:spPr>
          <a:xfrm>
            <a:off x="365760" y="1163965"/>
            <a:ext cx="1051560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about system limitations is part of the design — not a weakness.</a:t>
            </a:r>
            <a:endParaRPr lang="en-US" sz="145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51ADBD26-2D65-F434-39A3-1C3FC034B21C}"/>
              </a:ext>
            </a:extLst>
          </p:cNvPr>
          <p:cNvSpPr/>
          <p:nvPr/>
        </p:nvSpPr>
        <p:spPr>
          <a:xfrm>
            <a:off x="365760" y="1636776"/>
            <a:ext cx="1124712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C247DE4E-CACE-FB03-490E-6E263EE0A09E}"/>
              </a:ext>
            </a:extLst>
          </p:cNvPr>
          <p:cNvSpPr txBox="1"/>
          <p:nvPr/>
        </p:nvSpPr>
        <p:spPr>
          <a:xfrm>
            <a:off x="502920" y="16824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Bug found</a:t>
            </a:r>
            <a:endParaRPr lang="en-US" sz="10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AC732284-D21B-0B52-6E1C-D210B286B09E}"/>
              </a:ext>
            </a:extLst>
          </p:cNvPr>
          <p:cNvSpPr txBox="1"/>
          <p:nvPr/>
        </p:nvSpPr>
        <p:spPr>
          <a:xfrm>
            <a:off x="502920" y="19751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lease_text not substituted</a:t>
            </a:r>
            <a:endParaRPr lang="en-US" sz="11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1048EE93-DDCF-664D-55B5-EC822102FF27}"/>
              </a:ext>
            </a:extLst>
          </p:cNvPr>
          <p:cNvSpPr txBox="1"/>
          <p:nvPr/>
        </p:nvSpPr>
        <p:spPr>
          <a:xfrm>
            <a:off x="3017520" y="168249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EXTRACTION_USER used .format() which broke on {} in legal text. All fields returned "Not found".</a:t>
            </a:r>
            <a:endParaRPr lang="en-US" sz="105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BDBCF4CF-E0F4-B7FF-E4FF-9321FD8344D3}"/>
              </a:ext>
            </a:extLst>
          </p:cNvPr>
          <p:cNvSpPr txBox="1"/>
          <p:nvPr/>
        </p:nvSpPr>
        <p:spPr>
          <a:xfrm>
            <a:off x="7360920" y="168249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Fixed with .replace("{lease_text}", lease_text)</a:t>
            </a:r>
            <a:endParaRPr lang="en-US" sz="105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48BE19F5-BBDF-A523-7A9E-8DDAE22B2258}"/>
              </a:ext>
            </a:extLst>
          </p:cNvPr>
          <p:cNvSpPr/>
          <p:nvPr/>
        </p:nvSpPr>
        <p:spPr>
          <a:xfrm>
            <a:off x="365760" y="2414016"/>
            <a:ext cx="1124712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1FA0B834-3C63-E39B-15A6-BF1C8BBB9ECE}"/>
              </a:ext>
            </a:extLst>
          </p:cNvPr>
          <p:cNvSpPr txBox="1"/>
          <p:nvPr/>
        </p:nvSpPr>
        <p:spPr>
          <a:xfrm>
            <a:off x="502920" y="24597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Bug found</a:t>
            </a:r>
            <a:endParaRPr lang="en-US" sz="10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F550DF1D-2EA4-E07B-2CFB-C7612296B080}"/>
              </a:ext>
            </a:extLst>
          </p:cNvPr>
          <p:cNvSpPr txBox="1"/>
          <p:nvPr/>
        </p:nvSpPr>
        <p:spPr>
          <a:xfrm>
            <a:off x="502920" y="275234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agreement = 0%</a:t>
            </a:r>
            <a:endParaRPr lang="en-US" sz="11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11C76780-3F78-26BA-8A66-3B134D224CF3}"/>
              </a:ext>
            </a:extLst>
          </p:cNvPr>
          <p:cNvSpPr txBox="1"/>
          <p:nvPr/>
        </p:nvSpPr>
        <p:spPr>
          <a:xfrm>
            <a:off x="3017520" y="245973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wrapped JSON responses in ```json fences. Parser failed silently, defaulted to 0.</a:t>
            </a:r>
            <a:endParaRPr lang="en-US" sz="105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58B62DC8-0787-B79C-AD01-B9993DFD4EC5}"/>
              </a:ext>
            </a:extLst>
          </p:cNvPr>
          <p:cNvSpPr txBox="1"/>
          <p:nvPr/>
        </p:nvSpPr>
        <p:spPr>
          <a:xfrm>
            <a:off x="7360920" y="245973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3-strategy parser: direct parse → strip fences → find {} block</a:t>
            </a:r>
            <a:endParaRPr lang="en-US" sz="105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38251323-DD0D-BD68-94F4-50FD798A48A3}"/>
              </a:ext>
            </a:extLst>
          </p:cNvPr>
          <p:cNvSpPr/>
          <p:nvPr/>
        </p:nvSpPr>
        <p:spPr>
          <a:xfrm>
            <a:off x="365760" y="3191256"/>
            <a:ext cx="1124712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EAF9C55A-5E04-E4ED-C4D4-6DFA7C9DB157}"/>
              </a:ext>
            </a:extLst>
          </p:cNvPr>
          <p:cNvSpPr txBox="1"/>
          <p:nvPr/>
        </p:nvSpPr>
        <p:spPr>
          <a:xfrm>
            <a:off x="502920" y="32369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Bug found</a:t>
            </a:r>
            <a:endParaRPr lang="en-US" sz="10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17ADE349-CA77-9F43-A038-5100426B580F}"/>
              </a:ext>
            </a:extLst>
          </p:cNvPr>
          <p:cNvSpPr txBox="1"/>
          <p:nvPr/>
        </p:nvSpPr>
        <p:spPr>
          <a:xfrm>
            <a:off x="502920" y="35295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fields empty</a:t>
            </a:r>
            <a:endParaRPr lang="en-US" sz="11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54A90182-2F40-F894-B0E7-A987F00BA7EB}"/>
              </a:ext>
            </a:extLst>
          </p:cNvPr>
          <p:cNvSpPr txBox="1"/>
          <p:nvPr/>
        </p:nvSpPr>
        <p:spPr>
          <a:xfrm>
            <a:off x="3017520" y="323697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prompt had no Portuguese terminology mapping. SENHORIO/ARRENDATÁRIO unrecognised.</a:t>
            </a:r>
            <a:endParaRPr lang="en-US" sz="105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2FFD05E8-83D3-2908-9AC0-511F6A246090}"/>
              </a:ext>
            </a:extLst>
          </p:cNvPr>
          <p:cNvSpPr txBox="1"/>
          <p:nvPr/>
        </p:nvSpPr>
        <p:spPr>
          <a:xfrm>
            <a:off x="7360920" y="323697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Added PT→EN field mapping to EXTRACTION_SYSTEM prompt</a:t>
            </a:r>
            <a:endParaRPr lang="en-US" sz="1050" dirty="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C87B2D1D-9522-FD4D-F85D-1AC6910AEB0B}"/>
              </a:ext>
            </a:extLst>
          </p:cNvPr>
          <p:cNvSpPr/>
          <p:nvPr/>
        </p:nvSpPr>
        <p:spPr>
          <a:xfrm>
            <a:off x="365760" y="3968496"/>
            <a:ext cx="11247120" cy="71323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530FAB54-3557-2C68-DA49-7D36CF668E43}"/>
              </a:ext>
            </a:extLst>
          </p:cNvPr>
          <p:cNvSpPr txBox="1"/>
          <p:nvPr/>
        </p:nvSpPr>
        <p:spPr>
          <a:xfrm>
            <a:off x="502920" y="4014215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</a:t>
            </a:r>
            <a:endParaRPr lang="en-US" sz="10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13EF5E03-1698-607F-B9D9-D50ED9D1BB29}"/>
              </a:ext>
            </a:extLst>
          </p:cNvPr>
          <p:cNvSpPr txBox="1"/>
          <p:nvPr/>
        </p:nvSpPr>
        <p:spPr>
          <a:xfrm>
            <a:off x="502920" y="430682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on free-text</a:t>
            </a:r>
            <a:endParaRPr lang="en-US" sz="11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332D1712-92F9-8FA1-529C-CE9DCF229715}"/>
              </a:ext>
            </a:extLst>
          </p:cNvPr>
          <p:cNvSpPr txBox="1"/>
          <p:nvPr/>
        </p:nvSpPr>
        <p:spPr>
          <a:xfrm>
            <a:off x="3017520" y="4014215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lists and descriptions show punctuation-level variation across runs at temperature=0.</a:t>
            </a:r>
            <a:endParaRPr lang="en-US" sz="105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0AFD11E6-BCE0-A55D-2E2E-57CC77B1CCF3}"/>
              </a:ext>
            </a:extLst>
          </p:cNvPr>
          <p:cNvSpPr txBox="1"/>
          <p:nvPr/>
        </p:nvSpPr>
        <p:spPr>
          <a:xfrm>
            <a:off x="7360920" y="4014215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Expected behaviour. Material values (dates, numbers) are deterministic. Documented.</a:t>
            </a:r>
            <a:endParaRPr lang="en-US" sz="1050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0AE010D8-9340-3190-26A3-C6B0CA5BF710}"/>
              </a:ext>
            </a:extLst>
          </p:cNvPr>
          <p:cNvSpPr/>
          <p:nvPr/>
        </p:nvSpPr>
        <p:spPr>
          <a:xfrm>
            <a:off x="365760" y="4745736"/>
            <a:ext cx="11247120" cy="71323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1CA78458-DC61-9903-8199-84E8EE318FF5}"/>
              </a:ext>
            </a:extLst>
          </p:cNvPr>
          <p:cNvSpPr txBox="1"/>
          <p:nvPr/>
        </p:nvSpPr>
        <p:spPr>
          <a:xfrm>
            <a:off x="502920" y="4791455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</a:t>
            </a:r>
            <a:endParaRPr lang="en-US" sz="10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4161A062-1B1F-E74D-B664-1C65F1DCD33C}"/>
              </a:ext>
            </a:extLst>
          </p:cNvPr>
          <p:cNvSpPr txBox="1"/>
          <p:nvPr/>
        </p:nvSpPr>
        <p:spPr>
          <a:xfrm>
            <a:off x="502920" y="508406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corpus only</a:t>
            </a:r>
            <a:endParaRPr lang="en-US" sz="11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269EEEF8-C823-DA35-4F0D-499B548A49FD}"/>
              </a:ext>
            </a:extLst>
          </p:cNvPr>
          <p:cNvSpPr txBox="1"/>
          <p:nvPr/>
        </p:nvSpPr>
        <p:spPr>
          <a:xfrm>
            <a:off x="3017520" y="4791455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leases are AI-generated. Real lease performance is untested.</a:t>
            </a:r>
            <a:endParaRPr lang="en-US" sz="1050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BAEB6418-871D-F417-C288-16D37EFB88FA}"/>
              </a:ext>
            </a:extLst>
          </p:cNvPr>
          <p:cNvSpPr txBox="1"/>
          <p:nvPr/>
        </p:nvSpPr>
        <p:spPr>
          <a:xfrm>
            <a:off x="7360920" y="4791455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Pilot plan: 20 real leases, manual comparison, accuracy gate ≥85%</a:t>
            </a:r>
            <a:endParaRPr lang="en-US" sz="105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26A52B67-BB11-5B65-8320-230BF394F9DD}"/>
              </a:ext>
            </a:extLst>
          </p:cNvPr>
          <p:cNvSpPr/>
          <p:nvPr/>
        </p:nvSpPr>
        <p:spPr>
          <a:xfrm>
            <a:off x="365760" y="5522976"/>
            <a:ext cx="11247120" cy="71323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2280FF94-5E8C-B400-3425-93E26015990A}"/>
              </a:ext>
            </a:extLst>
          </p:cNvPr>
          <p:cNvSpPr txBox="1"/>
          <p:nvPr/>
        </p:nvSpPr>
        <p:spPr>
          <a:xfrm>
            <a:off x="502920" y="55686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</a:t>
            </a:r>
            <a:endParaRPr lang="en-US" sz="1000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9F712F31-6B09-4D32-3056-3E053771356C}"/>
              </a:ext>
            </a:extLst>
          </p:cNvPr>
          <p:cNvSpPr txBox="1"/>
          <p:nvPr/>
        </p:nvSpPr>
        <p:spPr>
          <a:xfrm>
            <a:off x="502920" y="58613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blocked on hosted demo</a:t>
            </a:r>
            <a:endParaRPr lang="en-US" sz="1100" dirty="0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34D7EAC5-86DD-96AD-749F-D4243BB18473}"/>
              </a:ext>
            </a:extLst>
          </p:cNvPr>
          <p:cNvSpPr txBox="1"/>
          <p:nvPr/>
        </p:nvSpPr>
        <p:spPr>
          <a:xfrm>
            <a:off x="3017520" y="556869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Render's free tier blocks outbound SMTP (since Sept 2025). Email attempts hung until timeout, adding up to 3 min per run.</a:t>
            </a:r>
            <a:endParaRPr lang="en-US" sz="1050" dirty="0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4EBA3228-3813-F20C-A66D-7EE6649F237F}"/>
              </a:ext>
            </a:extLst>
          </p:cNvPr>
          <p:cNvSpPr txBox="1"/>
          <p:nvPr/>
        </p:nvSpPr>
        <p:spPr>
          <a:xfrm>
            <a:off x="7360920" y="556869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 detects Render and skips email with an on-screen notice. Works locally. Production: email API over HTTPS.</a:t>
            </a:r>
            <a:endParaRPr lang="en-US" sz="1050" dirty="0"/>
          </a:p>
        </p:txBody>
      </p:sp>
      <p:sp>
        <p:nvSpPr>
          <p:cNvPr id="62" name="Email screenshot placeholder">
            <a:extLst>
              <a:ext uri="{FF2B5EF4-FFF2-40B4-BE49-F238E27FC236}">
                <a16:creationId xmlns:a16="http://schemas.microsoft.com/office/drawing/2014/main" id="{C333C489-5551-18C0-B349-81D8509C2742}"/>
              </a:ext>
            </a:extLst>
          </p:cNvPr>
          <p:cNvSpPr/>
          <p:nvPr/>
        </p:nvSpPr>
        <p:spPr>
          <a:xfrm>
            <a:off x="10332720" y="5586984"/>
            <a:ext cx="1188720" cy="585216"/>
          </a:xfrm>
          <a:prstGeom prst="rect">
            <a:avLst/>
          </a:prstGeom>
          <a:solidFill>
            <a:srgbClr val="EEEEEE"/>
          </a:solidFill>
          <a:ln>
            <a:solidFill>
              <a:srgbClr val="BBBBBB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i="1">
                <a:solidFill>
                  <a:srgbClr val="777777"/>
                </a:solidFill>
              </a:rPr>
              <a:t>Sample email screenshot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8243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BUSINESS CASE &amp; COMPLIANCE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3484"/>
            <a:ext cx="10515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pays back within the first year. The risk is limited by design.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636826"/>
            <a:ext cx="5486400" cy="49226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02920" y="1733823"/>
            <a:ext cx="521208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SUMMARY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218809"/>
            <a:ext cx="5212080" cy="412237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94360" y="2279432"/>
            <a:ext cx="347472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(lawyer + paralegal)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2279432"/>
            <a:ext cx="13716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€180,000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679545"/>
            <a:ext cx="5212080" cy="412237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94360" y="2740168"/>
            <a:ext cx="347472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build cost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740168"/>
            <a:ext cx="13716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€43,000–€70,000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140281"/>
            <a:ext cx="5212080" cy="412237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94360" y="3200905"/>
            <a:ext cx="347472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 cost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3200905"/>
            <a:ext cx="13716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€8,000–€15,000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601018"/>
            <a:ext cx="5212080" cy="412237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594360" y="3661641"/>
            <a:ext cx="347472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ROI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3661641"/>
            <a:ext cx="13716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061754"/>
            <a:ext cx="5212080" cy="412237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94360" y="4122377"/>
            <a:ext cx="347472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ROI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4122377"/>
            <a:ext cx="13716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493%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522491"/>
            <a:ext cx="5212080" cy="412237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594360" y="4583114"/>
            <a:ext cx="347472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4583114"/>
            <a:ext cx="13716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~Month 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983227"/>
            <a:ext cx="5212080" cy="412237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94360" y="5043850"/>
            <a:ext cx="347472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lease (AI)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5043850"/>
            <a:ext cx="13716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€0.025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5443963"/>
            <a:ext cx="5212080" cy="412237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94360" y="5504586"/>
            <a:ext cx="347472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lease (manual)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160520" y="5504586"/>
            <a:ext cx="13716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€480–€960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1636826"/>
            <a:ext cx="5577840" cy="4922604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172200" y="1733823"/>
            <a:ext cx="521208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2182435"/>
            <a:ext cx="2560320" cy="460736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6172200" y="2267307"/>
            <a:ext cx="256032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ACT: LIMITED RISK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2728044"/>
            <a:ext cx="53035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Art. 50 transparency only — no conformity assessment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3164531"/>
            <a:ext cx="53035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output labelled AI-generated draft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3601018"/>
            <a:ext cx="53035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sign-off mandatory — no autonomous decisions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172200" y="4037505"/>
            <a:ext cx="53035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Watch: direct feed to valuation model = HIGH RISK shift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72200" y="4522491"/>
            <a:ext cx="1097280" cy="387988"/>
          </a:xfrm>
          <a:prstGeom prst="rect">
            <a:avLst/>
          </a:prstGeom>
          <a:solidFill>
            <a:srgbClr val="2C6FAD"/>
          </a:solidFill>
          <a:ln w="12700">
            <a:solidFill>
              <a:srgbClr val="2C6F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172200" y="4583114"/>
            <a:ext cx="109728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4995352"/>
            <a:ext cx="53035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Legitimate interest · Supabase EU (Ireland)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5431839"/>
            <a:ext cx="53035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OpenAI/Anthropic: SCCs + zero data retention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172200" y="5868326"/>
            <a:ext cx="5303520" cy="3637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DPIA completed — residual risk LOW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0" y="6365436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2921"/>
            <a:ext cx="1097280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STRATEGIC PLAN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96030"/>
            <a:ext cx="10515600" cy="586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→ Pilot → Full deployment. Pilot gates are explicit.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521912"/>
            <a:ext cx="2743200" cy="4340268"/>
          </a:xfrm>
          <a:prstGeom prst="rect">
            <a:avLst/>
          </a:prstGeom>
          <a:solidFill>
            <a:srgbClr val="E8F4FD"/>
          </a:solidFill>
          <a:ln w="12700">
            <a:solidFill>
              <a:srgbClr val="2C6F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02920" y="1634646"/>
            <a:ext cx="2468880" cy="732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✅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57606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n8n workflow, 6 nodes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043824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cases, all criteria passed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630042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Teaching staff: proceed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216260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peer rating: 4.50/5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521912"/>
            <a:ext cx="2743200" cy="4340268"/>
          </a:xfrm>
          <a:prstGeom prst="rect">
            <a:avLst/>
          </a:prstGeom>
          <a:solidFill>
            <a:srgbClr val="FFF8F0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383280" y="1634646"/>
            <a:ext cx="2468880" cy="732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457606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real acquisition (10–20 leases)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043824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2–3 lawyers co-design output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630042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LangSmith tracing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216260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⛔ Gate: ≥85% accuracy on real leases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802478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⛔ Gate: ≥60% time saving confirmed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5388696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⛔ Gate: zero undetected critical errors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521912"/>
            <a:ext cx="2743200" cy="4340268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263640" y="1634646"/>
            <a:ext cx="2468880" cy="732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457606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acquisitions processed by AI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043824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OCR layer for scanned leases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630042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Portfolio monitoring dashboard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216260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regression testing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802478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Cost: €15k–€25k build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06840" y="1521912"/>
            <a:ext cx="2743200" cy="4340268"/>
          </a:xfrm>
          <a:prstGeom prst="rect">
            <a:avLst/>
          </a:prstGeom>
          <a:solidFill>
            <a:srgbClr val="F4F4F6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9144000" y="1634646"/>
            <a:ext cx="2468880" cy="732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2457606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Productise for PT + ES + GR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144000" y="3043824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Target: 10 clients @ €15k/yr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3630042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Differentiator: NRAU grounding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4216260"/>
            <a:ext cx="2468880" cy="507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TAM: ~500 mid-market developers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6110196"/>
            <a:ext cx="11247120" cy="473483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48640" y="6177836"/>
            <a:ext cx="109728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that greenlight Pilot → Full deployment: ≥85% extraction accuracy · ≥60% time saving · zero undetected critical errors · ≥2/3 lawyers rate system useful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0" y="5918547"/>
            <a:ext cx="1097280" cy="20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8243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LIVE DEMO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33484"/>
            <a:ext cx="10515600" cy="630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running — standalone URL, no local setup needed.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636826"/>
            <a:ext cx="11247120" cy="630481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48640" y="1733823"/>
            <a:ext cx="10972800" cy="424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[Render URL — update after deployment]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85551"/>
            <a:ext cx="11247120" cy="436487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65760" y="2485551"/>
            <a:ext cx="402336" cy="436487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365760" y="2546174"/>
            <a:ext cx="402336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546174"/>
            <a:ext cx="1060704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Portuguese commercial lease PDF from the sidebar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70537"/>
            <a:ext cx="11247120" cy="436487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65760" y="2970537"/>
            <a:ext cx="402336" cy="436487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365760" y="3031160"/>
            <a:ext cx="402336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031160"/>
            <a:ext cx="1060704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extraction model (gpt-4o-2024-11-20 recommended) · Enter email · Click Run AI extraction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55522"/>
            <a:ext cx="11247120" cy="436487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65760" y="3455522"/>
            <a:ext cx="402336" cy="436487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65760" y="3516145"/>
            <a:ext cx="402336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" y="3516145"/>
            <a:ext cx="1060704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shows: risk banner · Claude agreement score · flagged clause count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40508"/>
            <a:ext cx="11247120" cy="436487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5760" y="3940508"/>
            <a:ext cx="402336" cy="436487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365760" y="4001131"/>
            <a:ext cx="402336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" y="4001131"/>
            <a:ext cx="1060704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shows: all 27 fields with page + clause citations · ✏️ Correct any field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425493"/>
            <a:ext cx="11247120" cy="436487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65760" y="4425493"/>
            <a:ext cx="402336" cy="436487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365760" y="4486117"/>
            <a:ext cx="402336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4486117"/>
            <a:ext cx="1060704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complete mandatory lawyer sign-off (4 checkboxes + name)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910479"/>
            <a:ext cx="11247120" cy="436487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65760" y="4910479"/>
            <a:ext cx="402336" cy="436487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65760" y="4971102"/>
            <a:ext cx="402336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" y="4971102"/>
            <a:ext cx="1060704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Proposal tab: fill property details + asking price → BUY/REVIEW/PASS + IMT + stamp duty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5395465"/>
            <a:ext cx="11247120" cy="436487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65760" y="5395465"/>
            <a:ext cx="402336" cy="436487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365760" y="5456088"/>
            <a:ext cx="402336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77824" y="5456088"/>
            <a:ext cx="1060704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tab: show parallel processing results + determinism table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5880450"/>
            <a:ext cx="11247120" cy="436487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65760" y="5880450"/>
            <a:ext cx="402336" cy="436487"/>
          </a:xfrm>
          <a:prstGeom prst="rect">
            <a:avLst/>
          </a:prstGeom>
          <a:solidFill>
            <a:srgbClr val="C8923A"/>
          </a:solidFill>
          <a:ln w="12700">
            <a:solidFill>
              <a:srgbClr val="C89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65760" y="5941074"/>
            <a:ext cx="402336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77824" y="5941074"/>
            <a:ext cx="10607040" cy="303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LangSmith: switch to smith.langchain.com → show traces appearing in real time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0" y="6365436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2921"/>
            <a:ext cx="1097280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PILOT MEASUREMENT PLAN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96030"/>
            <a:ext cx="10515600" cy="586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watch in a real acquisition — and how we would know it works.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521912"/>
            <a:ext cx="11247120" cy="653858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502920" y="1589552"/>
            <a:ext cx="292608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accuracy on real leases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589552"/>
            <a:ext cx="1097280" cy="36074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3474720" y="1645920"/>
            <a:ext cx="1097280" cy="248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589552"/>
            <a:ext cx="393192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comparison of AI output vs lawyer abstraction on 20 real leases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589552"/>
            <a:ext cx="274320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corpus proves approach — real leases prove production readiness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43411"/>
            <a:ext cx="11247120" cy="65385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502920" y="2311052"/>
            <a:ext cx="292608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agreement calibration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311052"/>
            <a:ext cx="1097280" cy="36074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3474720" y="2367419"/>
            <a:ext cx="1097280" cy="248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≥75% avg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311052"/>
            <a:ext cx="393192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whether low agreement (&lt;70%) correlates with actual extraction errors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311052"/>
            <a:ext cx="274320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whether the score is a reliable signal or noise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64910"/>
            <a:ext cx="11247120" cy="653858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02920" y="3032551"/>
            <a:ext cx="292608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time per lease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3032551"/>
            <a:ext cx="1097280" cy="36074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474720" y="3088918"/>
            <a:ext cx="1097280" cy="248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hour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3032551"/>
            <a:ext cx="393192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Time-tracked by legal team during pilot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032551"/>
            <a:ext cx="274320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4–8h → &lt;1h time saving projection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86409"/>
            <a:ext cx="11247120" cy="65385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02920" y="3754050"/>
            <a:ext cx="292608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error 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754050"/>
            <a:ext cx="1097280" cy="36074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3474720" y="3810417"/>
            <a:ext cx="1097280" cy="248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3754050"/>
            <a:ext cx="393192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 of all extracted dates, rents, break options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3754050"/>
            <a:ext cx="274320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undetected error on a material value invalidates the system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407909"/>
            <a:ext cx="11247120" cy="653858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502920" y="4475549"/>
            <a:ext cx="292608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regression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4475549"/>
            <a:ext cx="1097280" cy="36074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3474720" y="4531916"/>
            <a:ext cx="1097280" cy="248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degradation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709160" y="4475549"/>
            <a:ext cx="393192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dataset run against full corpus after every prompt change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4475549"/>
            <a:ext cx="274320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fixes do not break other categories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5129408"/>
            <a:ext cx="11247120" cy="653858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02920" y="5197048"/>
            <a:ext cx="292608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 accuracy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74720" y="5197048"/>
            <a:ext cx="1097280" cy="360749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3474720" y="5253415"/>
            <a:ext cx="1097280" cy="248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&gt; gpt-4o on complex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709160" y="5197048"/>
            <a:ext cx="393192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10 leases through both models, compare flagging quality on break conditions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5197048"/>
            <a:ext cx="2743200" cy="5636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6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the higher cost of reasoning models for complex leases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6110196"/>
            <a:ext cx="11247120" cy="473483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548640" y="6177836"/>
            <a:ext cx="109728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cost: €20,000–€30,000 · Duration: 10 weeks · Go/no-go decision based on all 6 KPIs before any wider commitment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0" y="5918547"/>
            <a:ext cx="1097280" cy="20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2921"/>
            <a:ext cx="10972800" cy="270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DELIVERABLES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96030"/>
            <a:ext cx="10515600" cy="586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submitted. Everything documented.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521912"/>
            <a:ext cx="557784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75488" y="1589552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use_case_definition.md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589552"/>
            <a:ext cx="301752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problem, stakeholders, success criteria, scope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085583"/>
            <a:ext cx="557784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75488" y="2153224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roi_risk_assessment.md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153224"/>
            <a:ext cx="301752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12/36-month ROI, 10-risk matrix with mitigations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649254"/>
            <a:ext cx="557784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2716895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compliance/eu_ai_act_compliance.md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716895"/>
            <a:ext cx="301752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 classification, Art.50 obligations, tech doc outline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212926"/>
            <a:ext cx="557784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75488" y="3280566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compliance/gdpr_documentation.md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280566"/>
            <a:ext cx="301752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flows, DPIA, third-party transfers, rights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76597"/>
            <a:ext cx="557784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75488" y="3844237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strategic_plan.md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844237"/>
            <a:ext cx="301752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POC→Pilot→Full deploy, GTM, KPIs, commercialisation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340268"/>
            <a:ext cx="557784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75488" y="4407909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evaluation/langsmith.md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4407909"/>
            <a:ext cx="301752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traces, what failed, pilot watchlist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903939"/>
            <a:ext cx="557784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75488" y="4971580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evaluation/stress_test.md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4971580"/>
            <a:ext cx="301752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Parallelisation methodology, determinism findings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5467610"/>
            <a:ext cx="557784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475488" y="5535251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project_overview.md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5535251"/>
            <a:ext cx="301752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summary, business case, document index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1521912"/>
            <a:ext cx="548640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236208" y="1589552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mvp/app.py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95360" y="1589552"/>
            <a:ext cx="28346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5-tab application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2085583"/>
            <a:ext cx="548640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236208" y="2153224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mvp/extractor.py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2153224"/>
            <a:ext cx="28346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pipeline, 7-model support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2649254"/>
            <a:ext cx="548640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236208" y="2716895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mvp/validator.py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595360" y="2716895"/>
            <a:ext cx="28346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validation, JSON parser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3212926"/>
            <a:ext cx="548640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236208" y="3280566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mvp/portugal_law.py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595360" y="3280566"/>
            <a:ext cx="28346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NRAU context, model pricing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3776597"/>
            <a:ext cx="548640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6236208" y="3844237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mvp/generate_corpus.py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595360" y="3844237"/>
            <a:ext cx="28346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synthetic PT leases generator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26480" y="4340268"/>
            <a:ext cx="548640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6236208" y="4407909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mvp/run_stress_test.py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595360" y="4407909"/>
            <a:ext cx="28346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stress test, 10+ leases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26480" y="4903939"/>
            <a:ext cx="548640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6236208" y="4971580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mvp/schema.sql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595360" y="4971580"/>
            <a:ext cx="28346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schema (5 tables)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26480" y="5467610"/>
            <a:ext cx="5486400" cy="496030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6236208" y="5535251"/>
            <a:ext cx="22860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Render deployment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595360" y="5535251"/>
            <a:ext cx="283464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URL, no local setup needed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6110196"/>
            <a:ext cx="11247120" cy="473483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48640" y="6177836"/>
            <a:ext cx="10972800" cy="31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github.com/ioanna-lab/Capstone_mvp  ·  All files committed, .env excluded, PDFs excluded (200 synthetic leases too large), ground_truth.csv included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0515600" y="5918547"/>
            <a:ext cx="1097280" cy="20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39489"/>
            <a:ext cx="10972800" cy="29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CLOSE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030594"/>
            <a:ext cx="8229600" cy="788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built.</a:t>
            </a:r>
            <a:endParaRPr lang="en-US" sz="37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818696"/>
            <a:ext cx="8229600" cy="788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5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is the next step.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934163"/>
            <a:ext cx="1051560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Chleo's question: "How do I know it's not making things up?"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370650"/>
            <a:ext cx="10515600" cy="872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built into the architecture: every field cites the page and clause it came from, two independent models validate the same document, disagreements are surfaced to the lawyer, and nothing enters a financial decision without a qualified lawyer completing a mandatory sign-off.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4461867"/>
            <a:ext cx="10515600" cy="1042719"/>
          </a:xfrm>
          <a:prstGeom prst="rect">
            <a:avLst/>
          </a:prstGeom>
          <a:solidFill>
            <a:srgbClr val="252B52"/>
          </a:solidFill>
          <a:ln w="12700">
            <a:solidFill>
              <a:srgbClr val="252B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48640" y="4558864"/>
            <a:ext cx="10149840" cy="848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Commission a 10-week pilot on one upcoming acquisition.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€20,000–€30,000 · Potential saving: €128,000–€192,000/year · Payback within the first deal cycle.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5759204"/>
            <a:ext cx="137160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098694"/>
            <a:ext cx="365760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github.com/ioanna-lab/Capstone_mvp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5759204"/>
            <a:ext cx="137160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6098694"/>
            <a:ext cx="365760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https://capstone-mvp-k2pj.onrender.com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5759204"/>
            <a:ext cx="137160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6098694"/>
            <a:ext cx="3657600" cy="339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ioannarenta@gmail.com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linkedin.com/in/ioannarenta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0" y="6365436"/>
            <a:ext cx="1097280" cy="218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2808</Words>
  <Application>Microsoft Macintosh PowerPoint</Application>
  <PresentationFormat>Widescreen</PresentationFormat>
  <Paragraphs>442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Ioanna Ioanna</cp:lastModifiedBy>
  <cp:revision>2</cp:revision>
  <dcterms:created xsi:type="dcterms:W3CDTF">2026-10-03T14:41:36Z</dcterms:created>
  <dcterms:modified xsi:type="dcterms:W3CDTF">2026-10-09T18:17:00Z</dcterms:modified>
</cp:coreProperties>
</file>